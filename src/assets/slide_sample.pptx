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2">
          <p15:clr>
            <a:srgbClr val="F26B43"/>
          </p15:clr>
        </p15:guide>
        <p15:guide id="2" pos="257">
          <p15:clr>
            <a:srgbClr val="F26B43"/>
          </p15:clr>
        </p15:guide>
        <p15:guide id="3" orient="horz" pos="4088">
          <p15:clr>
            <a:srgbClr val="F26B43"/>
          </p15:clr>
        </p15:guide>
        <p15:guide id="4" pos="7423">
          <p15:clr>
            <a:srgbClr val="F26B43"/>
          </p15:clr>
        </p15:guide>
        <p15:guide id="5" pos="3840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j+3mxE5o7GXHaj57Ss1rmUYwTV0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Юлия Родикова" initials="" lastIdx="4" clrIdx="0"/>
  <p:cmAuthor id="1" name="PC" initials="P" lastIdx="1" clrIdx="1">
    <p:extLst>
      <p:ext uri="{19B8F6BF-5375-455C-9EA6-DF929625EA0E}">
        <p15:presenceInfo xmlns:p15="http://schemas.microsoft.com/office/powerpoint/2012/main" userId="P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2" y="72"/>
      </p:cViewPr>
      <p:guideLst>
        <p:guide orient="horz" pos="232"/>
        <p:guide pos="257"/>
        <p:guide orient="horz" pos="4088"/>
        <p:guide pos="7423"/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1-11T13:48:46.459" idx="2">
    <p:pos x="257" y="232"/>
    <p:text>Столбец Название объекта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yePcYt0"/>
      </p:ext>
    </p:extLst>
  </p:cm>
  <p:cm authorId="0" dt="2026-01-11T13:51:28.435" idx="4">
    <p:pos x="241" y="1672"/>
    <p:text>Столбец Площадь ОКС</p:text>
    <p:extLst mod="1"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yePcYt4"/>
      </p:ext>
    </p:extLst>
  </p:cm>
  <p:cm authorId="0" dt="2026-01-11T13:52:12.853" idx="3">
    <p:pos x="179" y="1524"/>
    <p:text>Столбец Площадь ЗУ</p:text>
    <p:extLst mod="1"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yePcet0"/>
      </p:ext>
    </p:extLst>
  </p:cm>
  <p:cm authorId="0" dt="2026-01-11T13:52:50.083" idx="1">
    <p:pos x="447" y="1990"/>
    <p:text>Столбец Год ввода в эксплуатацию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yePcet4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B6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omments" Target="../comments/comment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82E5E-129E-CD0C-F7A7-DE84F599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  <a:buSzPts val="5000"/>
            </a:pPr>
            <a:r>
              <a:rPr lang="ru-RU" sz="2400" b="1" dirty="0">
                <a:solidFill>
                  <a:schemeClr val="lt1"/>
                </a:solidFill>
                <a:latin typeface="Arial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7"/>
                  </a:ext>
                </a:extLst>
              </a:rPr>
              <a:t>Состав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952184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1B0F1CC-38FC-678C-72FC-3893A3684A4B}"/>
              </a:ext>
            </a:extLst>
          </p:cNvPr>
          <p:cNvSpPr txBox="1"/>
          <p:nvPr/>
        </p:nvSpPr>
        <p:spPr>
          <a:xfrm>
            <a:off x="717949" y="2813195"/>
            <a:ext cx="1503874" cy="312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          </a:t>
            </a: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га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5"/>
                  </a:ext>
                </a:extLst>
              </a:rPr>
              <a:t>площадь ЗУ</a:t>
            </a:r>
          </a:p>
        </p:txBody>
      </p:sp>
      <p:pic>
        <p:nvPicPr>
          <p:cNvPr id="88" name="MapImage"/>
          <p:cNvPicPr preferRelativeResize="0"/>
          <p:nvPr/>
        </p:nvPicPr>
        <p:blipFill rotWithShape="1">
          <a:blip r:embed="rId3">
            <a:alphaModFix/>
          </a:blip>
          <a:srcRect b="8323"/>
          <a:stretch/>
        </p:blipFill>
        <p:spPr>
          <a:xfrm>
            <a:off x="7324420" y="2166084"/>
            <a:ext cx="4056654" cy="4348335"/>
          </a:xfrm>
          <a:prstGeom prst="roundRect">
            <a:avLst>
              <a:gd name="adj" fmla="val 2579"/>
            </a:avLst>
          </a:prstGeom>
          <a:noFill/>
          <a:ln>
            <a:noFill/>
          </a:ln>
        </p:spPr>
      </p:pic>
      <p:sp>
        <p:nvSpPr>
          <p:cNvPr id="89" name="Google Shape;89;p2"/>
          <p:cNvSpPr txBox="1">
            <a:spLocks noGrp="1"/>
          </p:cNvSpPr>
          <p:nvPr>
            <p:ph type="sldNum" idx="12"/>
          </p:nvPr>
        </p:nvSpPr>
        <p:spPr>
          <a:xfrm>
            <a:off x="11288692" y="6476750"/>
            <a:ext cx="184764" cy="25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432210" y="1031160"/>
            <a:ext cx="11197253" cy="373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</a:pPr>
            <a:r>
              <a:rPr lang="ru-RU" sz="12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XX</a:t>
            </a:r>
            <a:br>
              <a:rPr lang="ru-RU" sz="16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6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2"/>
          <p:cNvSpPr/>
          <p:nvPr/>
        </p:nvSpPr>
        <p:spPr>
          <a:xfrm rot="5400000" flipH="1">
            <a:off x="3416835" y="-1677666"/>
            <a:ext cx="45719" cy="5871387"/>
          </a:xfrm>
          <a:prstGeom prst="roundRect">
            <a:avLst>
              <a:gd name="adj" fmla="val 50000"/>
            </a:avLst>
          </a:prstGeom>
          <a:solidFill>
            <a:srgbClr val="009640"/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514149" y="2218768"/>
            <a:ext cx="5871300" cy="17712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zu_area_ga"/>
          <p:cNvSpPr txBox="1"/>
          <p:nvPr/>
        </p:nvSpPr>
        <p:spPr>
          <a:xfrm>
            <a:off x="710173" y="2752855"/>
            <a:ext cx="137550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0,5</a:t>
            </a:r>
            <a:endParaRPr sz="57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calc_area"/>
          <p:cNvSpPr txBox="1"/>
          <p:nvPr/>
        </p:nvSpPr>
        <p:spPr>
          <a:xfrm>
            <a:off x="632617" y="2405421"/>
            <a:ext cx="125730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15</a:t>
            </a:r>
            <a:endParaRPr lang="ru-RU" dirty="0"/>
          </a:p>
        </p:txBody>
      </p:sp>
      <p:sp>
        <p:nvSpPr>
          <p:cNvPr id="95" name="ProjectDescription"/>
          <p:cNvSpPr txBox="1"/>
          <p:nvPr/>
        </p:nvSpPr>
        <p:spPr>
          <a:xfrm>
            <a:off x="504001" y="1302519"/>
            <a:ext cx="1264539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ОПИСАНИЕ</a:t>
            </a:r>
            <a:endParaRPr dirty="0"/>
          </a:p>
        </p:txBody>
      </p:sp>
      <p:sp>
        <p:nvSpPr>
          <p:cNvPr id="96" name="investor-field"/>
          <p:cNvSpPr txBox="1"/>
          <p:nvPr/>
        </p:nvSpPr>
        <p:spPr>
          <a:xfrm>
            <a:off x="504001" y="1483271"/>
            <a:ext cx="58815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r>
              <a:rPr lang="en-US" sz="1000" dirty="0">
                <a:solidFill>
                  <a:schemeClr val="lt1"/>
                </a:solidFill>
              </a:rPr>
              <a:t>:</a:t>
            </a:r>
            <a:endParaRPr dirty="0"/>
          </a:p>
        </p:txBody>
      </p:sp>
      <p:sp>
        <p:nvSpPr>
          <p:cNvPr id="97" name="year_entered"/>
          <p:cNvSpPr txBox="1"/>
          <p:nvPr/>
        </p:nvSpPr>
        <p:spPr>
          <a:xfrm>
            <a:off x="710180" y="3160168"/>
            <a:ext cx="105750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2029 </a:t>
            </a: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г.</a:t>
            </a:r>
            <a:endParaRPr sz="857" b="1" baseline="30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717948" y="3549690"/>
            <a:ext cx="14910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350 </a:t>
            </a: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раб. мест</a:t>
            </a:r>
            <a:r>
              <a:rPr lang="ru-RU" sz="857" b="1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ru-RU" sz="750" b="1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будет создано </a:t>
            </a:r>
            <a:endParaRPr dirty="0"/>
          </a:p>
        </p:txBody>
      </p:sp>
      <p:pic>
        <p:nvPicPr>
          <p:cNvPr id="99" name="Google Shape;99;p2" descr="Символика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72768" y="1025639"/>
            <a:ext cx="2314562" cy="66513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zu_number"/>
          <p:cNvSpPr txBox="1"/>
          <p:nvPr/>
        </p:nvSpPr>
        <p:spPr>
          <a:xfrm>
            <a:off x="1189769" y="2934404"/>
            <a:ext cx="13755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(77:15:0020321:183)</a:t>
            </a:r>
            <a:endParaRPr dirty="0"/>
          </a:p>
        </p:txBody>
      </p:sp>
      <p:sp>
        <p:nvSpPr>
          <p:cNvPr id="101" name="Google Shape;101;p2"/>
          <p:cNvSpPr txBox="1"/>
          <p:nvPr/>
        </p:nvSpPr>
        <p:spPr>
          <a:xfrm>
            <a:off x="3689421" y="3683444"/>
            <a:ext cx="1883100" cy="3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14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Архитектурная концепция находится</a:t>
            </a:r>
            <a:b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 стадии разработки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3687350" y="2284769"/>
            <a:ext cx="2046300" cy="2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Пример визуализации*</a:t>
            </a:r>
            <a:endParaRPr sz="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rojectRend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93091" y="2517927"/>
            <a:ext cx="1915650" cy="1150200"/>
          </a:xfrm>
          <a:custGeom>
            <a:avLst/>
            <a:gdLst/>
            <a:ahLst/>
            <a:cxnLst/>
            <a:rect l="l" t="t" r="r" b="b"/>
            <a:pathLst>
              <a:path w="3564000" h="2160000" extrusionOk="0">
                <a:moveTo>
                  <a:pt x="182844" y="0"/>
                </a:moveTo>
                <a:lnTo>
                  <a:pt x="3381156" y="0"/>
                </a:lnTo>
                <a:cubicBezTo>
                  <a:pt x="3482138" y="0"/>
                  <a:pt x="3564000" y="81862"/>
                  <a:pt x="3564000" y="182844"/>
                </a:cubicBezTo>
                <a:lnTo>
                  <a:pt x="3564000" y="1977156"/>
                </a:lnTo>
                <a:cubicBezTo>
                  <a:pt x="3564000" y="2078138"/>
                  <a:pt x="3482138" y="2160000"/>
                  <a:pt x="3381156" y="2160000"/>
                </a:cubicBezTo>
                <a:lnTo>
                  <a:pt x="182844" y="2160000"/>
                </a:lnTo>
                <a:cubicBezTo>
                  <a:pt x="81862" y="2160000"/>
                  <a:pt x="0" y="2078138"/>
                  <a:pt x="0" y="1977156"/>
                </a:cubicBezTo>
                <a:lnTo>
                  <a:pt x="0" y="182844"/>
                </a:lnTo>
                <a:cubicBezTo>
                  <a:pt x="0" y="81862"/>
                  <a:pt x="81862" y="0"/>
                  <a:pt x="182844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04" name="Google Shape;104;p2"/>
          <p:cNvSpPr/>
          <p:nvPr/>
        </p:nvSpPr>
        <p:spPr>
          <a:xfrm>
            <a:off x="641063" y="2115045"/>
            <a:ext cx="2177100" cy="205800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32617" y="2084231"/>
            <a:ext cx="21816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ПАРАМЕТРЫ ПРОЕКТА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9544712" y="6104701"/>
            <a:ext cx="1701848" cy="237274"/>
          </a:xfrm>
          <a:prstGeom prst="roundRect">
            <a:avLst>
              <a:gd name="adj" fmla="val 4814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933361" y="6158422"/>
            <a:ext cx="1142942" cy="13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Запрашиваемый ЗУ</a:t>
            </a:r>
            <a:endParaRPr sz="714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9676535" y="6159052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009640">
              <a:alpha val="49803"/>
            </a:srgbClr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p2"/>
          <p:cNvCxnSpPr>
            <a:stCxn id="110" idx="1"/>
          </p:cNvCxnSpPr>
          <p:nvPr/>
        </p:nvCxnSpPr>
        <p:spPr>
          <a:xfrm rot="10800000" flipH="1">
            <a:off x="8604888" y="5732362"/>
            <a:ext cx="965100" cy="111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1" name="Google Shape;111;p2"/>
          <p:cNvCxnSpPr/>
          <p:nvPr/>
        </p:nvCxnSpPr>
        <p:spPr>
          <a:xfrm rot="5400000">
            <a:off x="7909773" y="4493066"/>
            <a:ext cx="1911300" cy="444000"/>
          </a:xfrm>
          <a:prstGeom prst="bentConnector3">
            <a:avLst>
              <a:gd name="adj1" fmla="val 49997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" name="Google Shape;112;p2"/>
          <p:cNvSpPr/>
          <p:nvPr/>
        </p:nvSpPr>
        <p:spPr>
          <a:xfrm>
            <a:off x="7453150" y="3867882"/>
            <a:ext cx="1575259" cy="316493"/>
          </a:xfrm>
          <a:prstGeom prst="roundRect">
            <a:avLst>
              <a:gd name="adj" fmla="val 28082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7832193" y="3882493"/>
            <a:ext cx="1035540" cy="252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Окружение</a:t>
            </a:r>
            <a:r>
              <a:rPr lang="ru-RU" sz="714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ru-RU" sz="714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786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Квартал Менделеева</a:t>
            </a:r>
            <a:endParaRPr sz="714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7574972" y="3906075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7F7F7F">
              <a:alpha val="49803"/>
            </a:srgb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7309460" y="2166084"/>
            <a:ext cx="4081761" cy="4348336"/>
          </a:xfrm>
          <a:prstGeom prst="roundRect">
            <a:avLst>
              <a:gd name="adj" fmla="val 2594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7451488" y="2002909"/>
            <a:ext cx="2537551" cy="202701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7451488" y="1961914"/>
            <a:ext cx="2832489" cy="290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РАСПОЛОЖЕНИЕ ПРОЕКТА</a:t>
            </a:r>
            <a:endParaRPr/>
          </a:p>
        </p:txBody>
      </p:sp>
      <p:sp>
        <p:nvSpPr>
          <p:cNvPr id="118" name="Google Shape;118;p2"/>
          <p:cNvSpPr/>
          <p:nvPr/>
        </p:nvSpPr>
        <p:spPr>
          <a:xfrm>
            <a:off x="8495831" y="5610010"/>
            <a:ext cx="282349" cy="166687"/>
          </a:xfrm>
          <a:custGeom>
            <a:avLst/>
            <a:gdLst/>
            <a:ahLst/>
            <a:cxnLst/>
            <a:rect l="l" t="t" r="r" b="b"/>
            <a:pathLst>
              <a:path w="395288" h="233362" extrusionOk="0">
                <a:moveTo>
                  <a:pt x="0" y="83344"/>
                </a:moveTo>
                <a:lnTo>
                  <a:pt x="369094" y="233362"/>
                </a:lnTo>
                <a:lnTo>
                  <a:pt x="395288" y="154781"/>
                </a:lnTo>
                <a:lnTo>
                  <a:pt x="38100" y="0"/>
                </a:lnTo>
                <a:lnTo>
                  <a:pt x="0" y="83344"/>
                </a:lnTo>
                <a:close/>
              </a:path>
            </a:pathLst>
          </a:custGeom>
          <a:solidFill>
            <a:srgbClr val="7F7F7F">
              <a:alpha val="49803"/>
            </a:srgb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8530049" y="5733704"/>
            <a:ext cx="119063" cy="110558"/>
          </a:xfrm>
          <a:custGeom>
            <a:avLst/>
            <a:gdLst/>
            <a:ahLst/>
            <a:cxnLst/>
            <a:rect l="l" t="t" r="r" b="b"/>
            <a:pathLst>
              <a:path w="166688" h="154781" extrusionOk="0">
                <a:moveTo>
                  <a:pt x="0" y="88106"/>
                </a:moveTo>
                <a:lnTo>
                  <a:pt x="104775" y="154781"/>
                </a:lnTo>
                <a:lnTo>
                  <a:pt x="166688" y="42862"/>
                </a:lnTo>
                <a:lnTo>
                  <a:pt x="61913" y="0"/>
                </a:lnTo>
                <a:lnTo>
                  <a:pt x="0" y="88106"/>
                </a:lnTo>
                <a:close/>
              </a:path>
            </a:pathLst>
          </a:custGeom>
          <a:solidFill>
            <a:srgbClr val="009640">
              <a:alpha val="49803"/>
            </a:srgbClr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 descr="БЦ Инновационный центр «Технопарк-Сколково» (Квартал Менделеева, Нобеля, 5)  – аренда и продажа помещений, офисов в Бизнес Центре Инновационный центр  «Технопарк-Сколково» (Квартал Менделеева, Нобеля, 5), Москва, Сколково  инновационного центра территория ..."/>
          <p:cNvPicPr preferRelativeResize="0"/>
          <p:nvPr/>
        </p:nvPicPr>
        <p:blipFill rotWithShape="1">
          <a:blip r:embed="rId6">
            <a:alphaModFix/>
          </a:blip>
          <a:srcRect r="10819" b="5908"/>
          <a:stretch/>
        </p:blipFill>
        <p:spPr>
          <a:xfrm>
            <a:off x="7460569" y="2537170"/>
            <a:ext cx="1699928" cy="1280504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0" name="Google Shape;120;p2"/>
          <p:cNvPicPr preferRelativeResize="0"/>
          <p:nvPr/>
        </p:nvPicPr>
        <p:blipFill rotWithShape="1">
          <a:blip r:embed="rId7">
            <a:alphaModFix/>
          </a:blip>
          <a:srcRect l="8768" t="12393" r="12786" b="17789"/>
          <a:stretch/>
        </p:blipFill>
        <p:spPr>
          <a:xfrm>
            <a:off x="9544712" y="4829653"/>
            <a:ext cx="1709447" cy="1273381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rgbClr val="00964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1" name="Google Shape;121;p2"/>
          <p:cNvSpPr/>
          <p:nvPr/>
        </p:nvSpPr>
        <p:spPr>
          <a:xfrm>
            <a:off x="10285639" y="5306787"/>
            <a:ext cx="494393" cy="244929"/>
          </a:xfrm>
          <a:custGeom>
            <a:avLst/>
            <a:gdLst/>
            <a:ahLst/>
            <a:cxnLst/>
            <a:rect l="l" t="t" r="r" b="b"/>
            <a:pathLst>
              <a:path w="692150" h="342900" extrusionOk="0">
                <a:moveTo>
                  <a:pt x="38100" y="342900"/>
                </a:moveTo>
                <a:lnTo>
                  <a:pt x="692150" y="304800"/>
                </a:lnTo>
                <a:lnTo>
                  <a:pt x="584200" y="0"/>
                </a:lnTo>
                <a:lnTo>
                  <a:pt x="0" y="69850"/>
                </a:lnTo>
                <a:lnTo>
                  <a:pt x="38100" y="342900"/>
                </a:lnTo>
                <a:close/>
              </a:path>
            </a:pathLst>
          </a:custGeom>
          <a:solidFill>
            <a:srgbClr val="C4BEF8">
              <a:alpha val="49803"/>
            </a:srgbClr>
          </a:solidFill>
          <a:ln w="19050" cap="flat" cmpd="sng">
            <a:solidFill>
              <a:srgbClr val="7165E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name"/>
          <p:cNvSpPr txBox="1"/>
          <p:nvPr/>
        </p:nvSpPr>
        <p:spPr>
          <a:xfrm>
            <a:off x="407988" y="368300"/>
            <a:ext cx="11376025" cy="41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lang="ru-RU" sz="2400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7"/>
                  </a:ext>
                </a:extLst>
              </a:rPr>
              <a:t>НАЗВАНИЕ ОБЪЕКТА</a:t>
            </a:r>
            <a:endParaRPr sz="2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DA04D0-D5BF-0A99-92B2-D4646F104A79}"/>
              </a:ext>
            </a:extLst>
          </p:cNvPr>
          <p:cNvSpPr txBox="1"/>
          <p:nvPr/>
        </p:nvSpPr>
        <p:spPr>
          <a:xfrm>
            <a:off x="710173" y="3373207"/>
            <a:ext cx="6096000" cy="180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</a:rPr>
              <a:t>ввод в эксплуатацию</a:t>
            </a:r>
          </a:p>
        </p:txBody>
      </p:sp>
      <p:sp>
        <p:nvSpPr>
          <p:cNvPr id="2" name="investor">
            <a:extLst>
              <a:ext uri="{FF2B5EF4-FFF2-40B4-BE49-F238E27FC236}">
                <a16:creationId xmlns:a16="http://schemas.microsoft.com/office/drawing/2014/main" id="{5B4F85F6-845A-B617-1610-B3782C48379C}"/>
              </a:ext>
            </a:extLst>
          </p:cNvPr>
          <p:cNvSpPr txBox="1"/>
          <p:nvPr/>
        </p:nvSpPr>
        <p:spPr>
          <a:xfrm>
            <a:off x="1169891" y="1483271"/>
            <a:ext cx="5119918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EA67D-42D5-143A-EB41-B7F49239C673}"/>
              </a:ext>
            </a:extLst>
          </p:cNvPr>
          <p:cNvSpPr txBox="1"/>
          <p:nvPr/>
        </p:nvSpPr>
        <p:spPr>
          <a:xfrm>
            <a:off x="890223" y="2437872"/>
            <a:ext cx="1305668" cy="312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тыс. м2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5"/>
                  </a:ext>
                </a:extLst>
              </a:rPr>
              <a:t>общая площадь, из которой:</a:t>
            </a:r>
          </a:p>
        </p:txBody>
      </p:sp>
      <p:sp>
        <p:nvSpPr>
          <p:cNvPr id="4" name="cad_notes">
            <a:extLst>
              <a:ext uri="{FF2B5EF4-FFF2-40B4-BE49-F238E27FC236}">
                <a16:creationId xmlns:a16="http://schemas.microsoft.com/office/drawing/2014/main" id="{608E5025-F873-36E6-B97C-59131FC51A6F}"/>
              </a:ext>
            </a:extLst>
          </p:cNvPr>
          <p:cNvSpPr txBox="1"/>
          <p:nvPr/>
        </p:nvSpPr>
        <p:spPr>
          <a:xfrm>
            <a:off x="189243" y="6489700"/>
            <a:ext cx="6868574" cy="180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- Сноска с полным составом проекта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70</Words>
  <Application>Microsoft Office PowerPoint</Application>
  <PresentationFormat>Широкоэкранный</PresentationFormat>
  <Paragraphs>24</Paragraphs>
  <Slides>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5" baseType="lpstr">
      <vt:lpstr>Arial</vt:lpstr>
      <vt:lpstr>Calibri</vt:lpstr>
      <vt:lpstr>Тема Office</vt:lpstr>
      <vt:lpstr>Состав проекта</vt:lpstr>
      <vt:lpstr>XX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Сергеев Владислав Юрьевич</dc:creator>
  <cp:lastModifiedBy>PC</cp:lastModifiedBy>
  <cp:revision>14</cp:revision>
  <dcterms:created xsi:type="dcterms:W3CDTF">2025-07-31T07:21:50Z</dcterms:created>
  <dcterms:modified xsi:type="dcterms:W3CDTF">2026-02-03T09:02:23Z</dcterms:modified>
</cp:coreProperties>
</file>