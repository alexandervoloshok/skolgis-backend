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4"/>
  </p:notesMasterIdLst>
  <p:sldIdLst>
    <p:sldId id="257" r:id="rId2"/>
    <p:sldId id="256" r:id="rId3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32">
          <p15:clr>
            <a:srgbClr val="F26B43"/>
          </p15:clr>
        </p15:guide>
        <p15:guide id="2" pos="257">
          <p15:clr>
            <a:srgbClr val="F26B43"/>
          </p15:clr>
        </p15:guide>
        <p15:guide id="3" orient="horz" pos="4088">
          <p15:clr>
            <a:srgbClr val="F26B43"/>
          </p15:clr>
        </p15:guide>
        <p15:guide id="4" pos="7423">
          <p15:clr>
            <a:srgbClr val="F26B43"/>
          </p15:clr>
        </p15:guide>
        <p15:guide id="5" pos="3840">
          <p15:clr>
            <a:srgbClr val="A4A3A4"/>
          </p15:clr>
        </p15:guide>
        <p15:guide id="6" orient="horz" pos="2160">
          <p15:clr>
            <a:srgbClr val="A4A3A4"/>
          </p15:clr>
        </p15:guide>
      </p15:sldGuideLst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8" roundtripDataSignature="AMtx7mj+3mxE5o7GXHaj57Ss1rmUYwTV0A==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Юлия Родикова" initials="" lastIdx="4" clrIdx="0"/>
  <p:cmAuthor id="1" name="PC" initials="P" lastIdx="1" clrIdx="1">
    <p:extLst>
      <p:ext uri="{19B8F6BF-5375-455C-9EA6-DF929625EA0E}">
        <p15:presenceInfo xmlns:p15="http://schemas.microsoft.com/office/powerpoint/2012/main" userId="PC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15" d="100"/>
          <a:sy n="115" d="100"/>
        </p:scale>
        <p:origin x="72" y="72"/>
      </p:cViewPr>
      <p:guideLst>
        <p:guide orient="horz" pos="232"/>
        <p:guide pos="257"/>
        <p:guide orient="horz" pos="4088"/>
        <p:guide pos="7423"/>
        <p:guide pos="3840"/>
        <p:guide orient="horz" pos="21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customschemas.google.com/relationships/presentationmetadata" Target="metadata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11" Type="http://schemas.openxmlformats.org/officeDocument/2006/relationships/viewProps" Target="viewProps.xml"/><Relationship Id="rId10" Type="http://schemas.openxmlformats.org/officeDocument/2006/relationships/presProps" Target="presProps.xml"/><Relationship Id="rId4" Type="http://schemas.openxmlformats.org/officeDocument/2006/relationships/notesMaster" Target="notesMasters/notesMaster1.xml"/><Relationship Id="rId9" Type="http://schemas.openxmlformats.org/officeDocument/2006/relationships/commentAuthors" Target="commentAuthor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" name="Google Shape;86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 и объект" type="obj">
  <p:cSld name="OBJECT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4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олько заголовок" type="titleOnly">
  <p:cSld name="TITLE_ONLY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итульный слайд" type="title">
  <p:cSld name="TITLE"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6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6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29" name="Google Shape;29;p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 раздела" type="secHead">
  <p:cSld name="SECTION_HEADER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7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7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5" name="Google Shape;35;p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7" name="Google Shape;37;p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Два объекта" type="twoObj">
  <p:cSld name="TWO_OBJECTS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8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8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1" name="Google Shape;41;p8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равнение" type="twoTxTwoObj">
  <p:cSld name="TWO_OBJECTS_WITH_TEXT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9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9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8" name="Google Shape;48;p9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9" name="Google Shape;49;p9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50" name="Google Shape;50;p9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1" name="Google Shape;51;p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Пустой слайд" type="blank">
  <p:cSld name="BLANK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1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1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Объект с подписью" type="objTx">
  <p:cSld name="OBJECT_WITH_CAPTION_TEXT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1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1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61" name="Google Shape;61;p11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2" name="Google Shape;62;p1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1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Рисунок с подписью" type="picTx">
  <p:cSld name="PICTURE_WITH_CAPTION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2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2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12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9" name="Google Shape;69;p1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1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 и вертикальный текст" type="vertTx">
  <p:cSld name="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13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1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1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Вертикальный заголовок и текст" type="vertTitleAndTx">
  <p:cSld name="VERTICAL_TITLE_AND_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4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14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1" name="Google Shape;81;p1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1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1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545B6C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jpg"/><Relationship Id="rId4" Type="http://schemas.openxmlformats.org/officeDocument/2006/relationships/image" Target="../media/image2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D382E5E-129E-CD0C-F7A7-DE84F599B7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lnSpc>
                <a:spcPct val="100000"/>
              </a:lnSpc>
              <a:buSzPts val="5000"/>
            </a:pPr>
            <a:r>
              <a:rPr lang="ru-RU" sz="2400" b="1" dirty="0">
                <a:solidFill>
                  <a:schemeClr val="lt1"/>
                </a:solidFill>
                <a:latin typeface="Arial"/>
                <a:cs typeface="Arial"/>
                <a:sym typeface="Arial"/>
                <a:extLst>
                  <a:ext uri="http://customooxmlschemas.google.com/">
              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textRoundtripDataId="7"/>
                  </a:ext>
                </a:extLst>
              </a:rPr>
              <a:t>Состав проекта</a:t>
            </a:r>
          </a:p>
        </p:txBody>
      </p:sp>
    </p:spTree>
    <p:extLst>
      <p:ext uri="{BB962C8B-B14F-4D97-AF65-F5344CB8AC3E}">
        <p14:creationId xmlns:p14="http://schemas.microsoft.com/office/powerpoint/2010/main" val="29521848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zu_area_ga"/>
          <p:cNvSpPr txBox="1"/>
          <p:nvPr/>
        </p:nvSpPr>
        <p:spPr>
          <a:xfrm>
            <a:off x="2278518" y="3136646"/>
            <a:ext cx="719796" cy="2901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86" b="1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X</a:t>
            </a:r>
            <a:endParaRPr sz="571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88" name="MapImage"/>
          <p:cNvPicPr preferRelativeResize="0"/>
          <p:nvPr/>
        </p:nvPicPr>
        <p:blipFill rotWithShape="1">
          <a:blip r:embed="rId3">
            <a:alphaModFix/>
          </a:blip>
          <a:srcRect b="8323"/>
          <a:stretch/>
        </p:blipFill>
        <p:spPr>
          <a:xfrm>
            <a:off x="7324420" y="1105908"/>
            <a:ext cx="4056654" cy="4348335"/>
          </a:xfrm>
          <a:prstGeom prst="roundRect">
            <a:avLst>
              <a:gd name="adj" fmla="val 2579"/>
            </a:avLst>
          </a:prstGeom>
          <a:noFill/>
          <a:ln>
            <a:noFill/>
          </a:ln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1B0F1CC-38FC-678C-72FC-3893A3684A4B}"/>
              </a:ext>
            </a:extLst>
          </p:cNvPr>
          <p:cNvSpPr txBox="1"/>
          <p:nvPr/>
        </p:nvSpPr>
        <p:spPr>
          <a:xfrm>
            <a:off x="2262676" y="3364760"/>
            <a:ext cx="772409" cy="1801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571" dirty="0">
                <a:solidFill>
                  <a:schemeClr val="lt1"/>
                </a:solidFill>
                <a:extLst>
                  <a:ext uri="http://customooxmlschemas.google.com/">
              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textRoundtripDataId="5"/>
                  </a:ext>
                </a:extLst>
              </a:rPr>
              <a:t>площадь ЗУ</a:t>
            </a:r>
          </a:p>
        </p:txBody>
      </p:sp>
      <p:sp>
        <p:nvSpPr>
          <p:cNvPr id="89" name="Google Shape;89;p2"/>
          <p:cNvSpPr txBox="1">
            <a:spLocks noGrp="1"/>
          </p:cNvSpPr>
          <p:nvPr>
            <p:ph type="sldNum" idx="12"/>
          </p:nvPr>
        </p:nvSpPr>
        <p:spPr>
          <a:xfrm>
            <a:off x="11288692" y="6476750"/>
            <a:ext cx="184764" cy="2574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/>
          </a:p>
        </p:txBody>
      </p:sp>
      <p:sp>
        <p:nvSpPr>
          <p:cNvPr id="94" name="calc_area"/>
          <p:cNvSpPr txBox="1"/>
          <p:nvPr/>
        </p:nvSpPr>
        <p:spPr>
          <a:xfrm>
            <a:off x="650465" y="1295881"/>
            <a:ext cx="671516" cy="2901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86" b="1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  <a:extLst>
                  <a:ext uri="http://customooxmlschemas.google.com/">
              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textRoundtripDataId="0"/>
                  </a:ext>
                </a:extLst>
              </a:rPr>
              <a:t>X</a:t>
            </a:r>
            <a:endParaRPr lang="ru-RU" dirty="0"/>
          </a:p>
        </p:txBody>
      </p:sp>
      <p:sp>
        <p:nvSpPr>
          <p:cNvPr id="96" name="investor-field"/>
          <p:cNvSpPr txBox="1"/>
          <p:nvPr/>
        </p:nvSpPr>
        <p:spPr>
          <a:xfrm>
            <a:off x="3923606" y="3580240"/>
            <a:ext cx="5881500" cy="2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dirty="0">
                <a:solidFill>
                  <a:schemeClr val="lt1"/>
                </a:solidFill>
              </a:rPr>
              <a:t>Инвестор</a:t>
            </a:r>
            <a:r>
              <a:rPr lang="en-US" sz="1000" dirty="0">
                <a:solidFill>
                  <a:schemeClr val="lt1"/>
                </a:solidFill>
              </a:rPr>
              <a:t>:</a:t>
            </a:r>
            <a:endParaRPr dirty="0"/>
          </a:p>
        </p:txBody>
      </p:sp>
      <p:sp>
        <p:nvSpPr>
          <p:cNvPr id="101" name="Google Shape;101;p2"/>
          <p:cNvSpPr txBox="1"/>
          <p:nvPr/>
        </p:nvSpPr>
        <p:spPr>
          <a:xfrm>
            <a:off x="4217559" y="2726707"/>
            <a:ext cx="1883100" cy="31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714" b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* </a:t>
            </a:r>
            <a:r>
              <a:rPr lang="ru-RU" sz="714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Архитектурная концепция находится</a:t>
            </a:r>
            <a:br>
              <a:rPr lang="ru-RU" sz="714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ru-RU" sz="714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в стадии разработки</a:t>
            </a:r>
            <a:endParaRPr/>
          </a:p>
        </p:txBody>
      </p:sp>
      <p:sp>
        <p:nvSpPr>
          <p:cNvPr id="102" name="Google Shape;102;p2"/>
          <p:cNvSpPr txBox="1"/>
          <p:nvPr/>
        </p:nvSpPr>
        <p:spPr>
          <a:xfrm>
            <a:off x="4141043" y="1233413"/>
            <a:ext cx="2046300" cy="22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857" b="1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Пример визуализации*</a:t>
            </a:r>
            <a:endParaRPr sz="714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3" name="ProjectRender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221229" y="1561190"/>
            <a:ext cx="1915650" cy="1150200"/>
          </a:xfrm>
          <a:custGeom>
            <a:avLst/>
            <a:gdLst/>
            <a:ahLst/>
            <a:cxnLst/>
            <a:rect l="l" t="t" r="r" b="b"/>
            <a:pathLst>
              <a:path w="3564000" h="2160000" extrusionOk="0">
                <a:moveTo>
                  <a:pt x="182844" y="0"/>
                </a:moveTo>
                <a:lnTo>
                  <a:pt x="3381156" y="0"/>
                </a:lnTo>
                <a:cubicBezTo>
                  <a:pt x="3482138" y="0"/>
                  <a:pt x="3564000" y="81862"/>
                  <a:pt x="3564000" y="182844"/>
                </a:cubicBezTo>
                <a:lnTo>
                  <a:pt x="3564000" y="1977156"/>
                </a:lnTo>
                <a:cubicBezTo>
                  <a:pt x="3564000" y="2078138"/>
                  <a:pt x="3482138" y="2160000"/>
                  <a:pt x="3381156" y="2160000"/>
                </a:cubicBezTo>
                <a:lnTo>
                  <a:pt x="182844" y="2160000"/>
                </a:lnTo>
                <a:cubicBezTo>
                  <a:pt x="81862" y="2160000"/>
                  <a:pt x="0" y="2078138"/>
                  <a:pt x="0" y="1977156"/>
                </a:cubicBezTo>
                <a:lnTo>
                  <a:pt x="0" y="182844"/>
                </a:lnTo>
                <a:cubicBezTo>
                  <a:pt x="0" y="81862"/>
                  <a:pt x="81862" y="0"/>
                  <a:pt x="182844" y="0"/>
                </a:cubicBezTo>
                <a:close/>
              </a:path>
            </a:pathLst>
          </a:custGeom>
          <a:noFill/>
          <a:ln>
            <a:noFill/>
          </a:ln>
        </p:spPr>
      </p:pic>
      <p:sp>
        <p:nvSpPr>
          <p:cNvPr id="106" name="Google Shape;106;p2"/>
          <p:cNvSpPr/>
          <p:nvPr/>
        </p:nvSpPr>
        <p:spPr>
          <a:xfrm>
            <a:off x="9544712" y="5044525"/>
            <a:ext cx="1701848" cy="237274"/>
          </a:xfrm>
          <a:prstGeom prst="roundRect">
            <a:avLst>
              <a:gd name="adj" fmla="val 48146"/>
            </a:avLst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86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" name="Google Shape;107;p2"/>
          <p:cNvSpPr txBox="1"/>
          <p:nvPr/>
        </p:nvSpPr>
        <p:spPr>
          <a:xfrm>
            <a:off x="9933361" y="5098246"/>
            <a:ext cx="1142942" cy="131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857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Запрашиваемый ЗУ</a:t>
            </a:r>
            <a:endParaRPr sz="714" b="1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8" name="Google Shape;108;p2"/>
          <p:cNvSpPr/>
          <p:nvPr/>
        </p:nvSpPr>
        <p:spPr>
          <a:xfrm>
            <a:off x="9676535" y="5098876"/>
            <a:ext cx="128571" cy="128571"/>
          </a:xfrm>
          <a:prstGeom prst="roundRect">
            <a:avLst>
              <a:gd name="adj" fmla="val 16667"/>
            </a:avLst>
          </a:prstGeom>
          <a:solidFill>
            <a:srgbClr val="009640">
              <a:alpha val="49803"/>
            </a:srgbClr>
          </a:solidFill>
          <a:ln w="12700" cap="flat" cmpd="sng">
            <a:solidFill>
              <a:srgbClr val="0096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86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09" name="Google Shape;109;p2"/>
          <p:cNvCxnSpPr>
            <a:cxnSpLocks/>
          </p:cNvCxnSpPr>
          <p:nvPr/>
        </p:nvCxnSpPr>
        <p:spPr>
          <a:xfrm rot="10800000" flipH="1">
            <a:off x="8604888" y="4672186"/>
            <a:ext cx="965100" cy="111900"/>
          </a:xfrm>
          <a:prstGeom prst="bentConnector3">
            <a:avLst>
              <a:gd name="adj1" fmla="val 50000"/>
            </a:avLst>
          </a:prstGeom>
          <a:noFill/>
          <a:ln w="19050" cap="flat" cmpd="sng">
            <a:solidFill>
              <a:srgbClr val="009640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111" name="Google Shape;111;p2"/>
          <p:cNvCxnSpPr/>
          <p:nvPr/>
        </p:nvCxnSpPr>
        <p:spPr>
          <a:xfrm rot="5400000">
            <a:off x="7909773" y="3432890"/>
            <a:ext cx="1911300" cy="444000"/>
          </a:xfrm>
          <a:prstGeom prst="bentConnector3">
            <a:avLst>
              <a:gd name="adj1" fmla="val 49997"/>
            </a:avLst>
          </a:prstGeom>
          <a:noFill/>
          <a:ln w="19050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112" name="Google Shape;112;p2"/>
          <p:cNvSpPr/>
          <p:nvPr/>
        </p:nvSpPr>
        <p:spPr>
          <a:xfrm>
            <a:off x="7453150" y="3019250"/>
            <a:ext cx="1575259" cy="316493"/>
          </a:xfrm>
          <a:prstGeom prst="roundRect">
            <a:avLst>
              <a:gd name="adj" fmla="val 28082"/>
            </a:avLst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86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3" name="Google Shape"/>
          <p:cNvSpPr txBox="1"/>
          <p:nvPr/>
        </p:nvSpPr>
        <p:spPr>
          <a:xfrm>
            <a:off x="7832193" y="3033861"/>
            <a:ext cx="1035540" cy="131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857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Окружение</a:t>
            </a:r>
            <a:r>
              <a:rPr lang="ru-RU" sz="714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sz="714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4" name="Google Shape;114;p2"/>
          <p:cNvSpPr/>
          <p:nvPr/>
        </p:nvSpPr>
        <p:spPr>
          <a:xfrm>
            <a:off x="7574972" y="3057443"/>
            <a:ext cx="128571" cy="128571"/>
          </a:xfrm>
          <a:prstGeom prst="roundRect">
            <a:avLst>
              <a:gd name="adj" fmla="val 16667"/>
            </a:avLst>
          </a:prstGeom>
          <a:solidFill>
            <a:srgbClr val="7F7F7F">
              <a:alpha val="49803"/>
            </a:srgbClr>
          </a:solidFill>
          <a:ln w="12700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86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5" name="Google Shape;115;p2"/>
          <p:cNvSpPr/>
          <p:nvPr/>
        </p:nvSpPr>
        <p:spPr>
          <a:xfrm>
            <a:off x="7309460" y="1105908"/>
            <a:ext cx="4081761" cy="4348336"/>
          </a:xfrm>
          <a:prstGeom prst="roundRect">
            <a:avLst>
              <a:gd name="adj" fmla="val 2594"/>
            </a:avLst>
          </a:prstGeom>
          <a:noFill/>
          <a:ln w="19050" cap="flat" cmpd="sng">
            <a:solidFill>
              <a:srgbClr val="0096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714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" name="Google Shape;116;p2"/>
          <p:cNvSpPr/>
          <p:nvPr/>
        </p:nvSpPr>
        <p:spPr>
          <a:xfrm>
            <a:off x="7451488" y="942733"/>
            <a:ext cx="2537551" cy="202701"/>
          </a:xfrm>
          <a:prstGeom prst="roundRect">
            <a:avLst>
              <a:gd name="adj" fmla="val 14082"/>
            </a:avLst>
          </a:prstGeom>
          <a:solidFill>
            <a:srgbClr val="00964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86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" name="Google Shape;117;p2"/>
          <p:cNvSpPr txBox="1"/>
          <p:nvPr/>
        </p:nvSpPr>
        <p:spPr>
          <a:xfrm>
            <a:off x="7451488" y="901738"/>
            <a:ext cx="2832489" cy="2902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86" b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РАСПОЛОЖЕНИЕ ПРОЕКТА</a:t>
            </a:r>
            <a:endParaRPr/>
          </a:p>
        </p:txBody>
      </p:sp>
      <p:pic>
        <p:nvPicPr>
          <p:cNvPr id="119" name="surrounding_render_1" descr="БЦ Инновационный центр «Технопарк-Сколково» (Квартал Менделеева, Нобеля, 5)  – аренда и продажа помещений, офисов в Бизнес Центре Инновационный центр  «Технопарк-Сколково» (Квартал Менделеева, Нобеля, 5), Москва, Сколково  инновационного центра территория ..."/>
          <p:cNvPicPr preferRelativeResize="0"/>
          <p:nvPr/>
        </p:nvPicPr>
        <p:blipFill rotWithShape="1">
          <a:blip r:embed="rId5">
            <a:alphaModFix/>
          </a:blip>
          <a:srcRect r="10819" b="5908"/>
          <a:stretch/>
        </p:blipFill>
        <p:spPr>
          <a:xfrm>
            <a:off x="7460569" y="1688538"/>
            <a:ext cx="1699928" cy="1280504"/>
          </a:xfrm>
          <a:prstGeom prst="roundRect">
            <a:avLst>
              <a:gd name="adj" fmla="val 9530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120" name="Google Shape;120;p2"/>
          <p:cNvPicPr preferRelativeResize="0"/>
          <p:nvPr/>
        </p:nvPicPr>
        <p:blipFill rotWithShape="1">
          <a:blip r:embed="rId6">
            <a:alphaModFix/>
          </a:blip>
          <a:srcRect l="8768" t="12393" r="12786" b="17789"/>
          <a:stretch/>
        </p:blipFill>
        <p:spPr>
          <a:xfrm>
            <a:off x="9544712" y="3769477"/>
            <a:ext cx="1709447" cy="1273381"/>
          </a:xfrm>
          <a:prstGeom prst="roundRect">
            <a:avLst>
              <a:gd name="adj" fmla="val 9530"/>
            </a:avLst>
          </a:prstGeom>
          <a:noFill/>
          <a:ln w="19050" cap="flat" cmpd="sng">
            <a:solidFill>
              <a:srgbClr val="00964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121" name="Google Shape;121;p2"/>
          <p:cNvSpPr/>
          <p:nvPr/>
        </p:nvSpPr>
        <p:spPr>
          <a:xfrm>
            <a:off x="10285639" y="4246611"/>
            <a:ext cx="494393" cy="244929"/>
          </a:xfrm>
          <a:custGeom>
            <a:avLst/>
            <a:gdLst/>
            <a:ahLst/>
            <a:cxnLst/>
            <a:rect l="l" t="t" r="r" b="b"/>
            <a:pathLst>
              <a:path w="692150" h="342900" extrusionOk="0">
                <a:moveTo>
                  <a:pt x="38100" y="342900"/>
                </a:moveTo>
                <a:lnTo>
                  <a:pt x="692150" y="304800"/>
                </a:lnTo>
                <a:lnTo>
                  <a:pt x="584200" y="0"/>
                </a:lnTo>
                <a:lnTo>
                  <a:pt x="0" y="69850"/>
                </a:lnTo>
                <a:lnTo>
                  <a:pt x="38100" y="342900"/>
                </a:lnTo>
                <a:close/>
              </a:path>
            </a:pathLst>
          </a:custGeom>
          <a:solidFill>
            <a:srgbClr val="C4BEF8">
              <a:alpha val="49803"/>
            </a:srgbClr>
          </a:solidFill>
          <a:ln w="19050" cap="flat" cmpd="sng">
            <a:solidFill>
              <a:srgbClr val="7165ED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86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" name="name"/>
          <p:cNvSpPr txBox="1"/>
          <p:nvPr/>
        </p:nvSpPr>
        <p:spPr>
          <a:xfrm>
            <a:off x="407988" y="368300"/>
            <a:ext cx="11376025" cy="414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ial"/>
              <a:buNone/>
            </a:pPr>
            <a:r>
              <a:rPr lang="ru-RU" sz="2400" b="1" dirty="0">
                <a:solidFill>
                  <a:schemeClr val="lt1"/>
                </a:solidFill>
                <a:extLst>
                  <a:ext uri="http://customooxmlschemas.google.com/">
              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textRoundtripDataId="7"/>
                  </a:ext>
                </a:extLst>
              </a:rPr>
              <a:t>НАЗВАНИЕ ОБЪЕКТА</a:t>
            </a:r>
            <a:endParaRPr sz="2400" b="1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" name="investor">
            <a:extLst>
              <a:ext uri="{FF2B5EF4-FFF2-40B4-BE49-F238E27FC236}">
                <a16:creationId xmlns:a16="http://schemas.microsoft.com/office/drawing/2014/main" id="{5B4F85F6-845A-B617-1610-B3782C48379C}"/>
              </a:ext>
            </a:extLst>
          </p:cNvPr>
          <p:cNvSpPr txBox="1"/>
          <p:nvPr/>
        </p:nvSpPr>
        <p:spPr>
          <a:xfrm>
            <a:off x="4620902" y="3586816"/>
            <a:ext cx="5119918" cy="2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dirty="0">
                <a:solidFill>
                  <a:schemeClr val="lt1"/>
                </a:solidFill>
              </a:rPr>
              <a:t>Инвестор</a:t>
            </a:r>
            <a:endParaRPr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D9EA67D-42D5-143A-EB41-B7F49239C673}"/>
              </a:ext>
            </a:extLst>
          </p:cNvPr>
          <p:cNvSpPr txBox="1"/>
          <p:nvPr/>
        </p:nvSpPr>
        <p:spPr>
          <a:xfrm>
            <a:off x="922560" y="1342422"/>
            <a:ext cx="618421" cy="2242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857" b="1" dirty="0">
                <a:solidFill>
                  <a:schemeClr val="lt1"/>
                </a:solidFill>
                <a:extLst>
                  <a:ext uri="http://customooxmlschemas.google.com/">
              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textRoundtripDataId="9"/>
                  </a:ext>
                </a:extLst>
              </a:rPr>
              <a:t>тыс. м2</a:t>
            </a:r>
          </a:p>
        </p:txBody>
      </p:sp>
      <p:sp>
        <p:nvSpPr>
          <p:cNvPr id="4" name="cad_notes">
            <a:extLst>
              <a:ext uri="{FF2B5EF4-FFF2-40B4-BE49-F238E27FC236}">
                <a16:creationId xmlns:a16="http://schemas.microsoft.com/office/drawing/2014/main" id="{608E5025-F873-36E6-B97C-59131FC51A6F}"/>
              </a:ext>
            </a:extLst>
          </p:cNvPr>
          <p:cNvSpPr txBox="1"/>
          <p:nvPr/>
        </p:nvSpPr>
        <p:spPr>
          <a:xfrm>
            <a:off x="189243" y="6489700"/>
            <a:ext cx="6868574" cy="1801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571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* - Сноска с полным составом проекта</a:t>
            </a:r>
            <a:endParaRPr dirty="0"/>
          </a:p>
        </p:txBody>
      </p:sp>
      <p:sp>
        <p:nvSpPr>
          <p:cNvPr id="5" name="surrounding_title_1">
            <a:extLst>
              <a:ext uri="{FF2B5EF4-FFF2-40B4-BE49-F238E27FC236}">
                <a16:creationId xmlns:a16="http://schemas.microsoft.com/office/drawing/2014/main" id="{10198B18-7BB1-C394-BEE1-52B9ACD110C5}"/>
              </a:ext>
            </a:extLst>
          </p:cNvPr>
          <p:cNvSpPr txBox="1"/>
          <p:nvPr/>
        </p:nvSpPr>
        <p:spPr>
          <a:xfrm>
            <a:off x="7837605" y="3182140"/>
            <a:ext cx="1035540" cy="1209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786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ХХХ</a:t>
            </a:r>
            <a:endParaRPr sz="714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" name="Google Shape;90;p2">
            <a:extLst>
              <a:ext uri="{FF2B5EF4-FFF2-40B4-BE49-F238E27FC236}">
                <a16:creationId xmlns:a16="http://schemas.microsoft.com/office/drawing/2014/main" id="{37DD7E86-00DF-3EAD-39DE-9AA25702F1BC}"/>
              </a:ext>
            </a:extLst>
          </p:cNvPr>
          <p:cNvSpPr/>
          <p:nvPr/>
        </p:nvSpPr>
        <p:spPr>
          <a:xfrm>
            <a:off x="514150" y="1155550"/>
            <a:ext cx="1202700" cy="598500"/>
          </a:xfrm>
          <a:prstGeom prst="roundRect">
            <a:avLst>
              <a:gd name="adj" fmla="val 4594"/>
            </a:avLst>
          </a:prstGeom>
          <a:noFill/>
          <a:ln w="25400" cap="flat" cmpd="sng">
            <a:solidFill>
              <a:srgbClr val="0096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714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Google Shape;93;p2">
            <a:extLst>
              <a:ext uri="{FF2B5EF4-FFF2-40B4-BE49-F238E27FC236}">
                <a16:creationId xmlns:a16="http://schemas.microsoft.com/office/drawing/2014/main" id="{79A4EC58-6362-3658-F283-7E52C184BC9E}"/>
              </a:ext>
            </a:extLst>
          </p:cNvPr>
          <p:cNvSpPr txBox="1"/>
          <p:nvPr/>
        </p:nvSpPr>
        <p:spPr>
          <a:xfrm>
            <a:off x="3687350" y="1221544"/>
            <a:ext cx="2046300" cy="20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714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" name="Google Shape;94;p2">
            <a:extLst>
              <a:ext uri="{FF2B5EF4-FFF2-40B4-BE49-F238E27FC236}">
                <a16:creationId xmlns:a16="http://schemas.microsoft.com/office/drawing/2014/main" id="{6FF59A0D-4E06-AE2B-36E1-61762363F5B9}"/>
              </a:ext>
            </a:extLst>
          </p:cNvPr>
          <p:cNvSpPr/>
          <p:nvPr/>
        </p:nvSpPr>
        <p:spPr>
          <a:xfrm>
            <a:off x="641063" y="1051820"/>
            <a:ext cx="2177100" cy="205800"/>
          </a:xfrm>
          <a:prstGeom prst="roundRect">
            <a:avLst>
              <a:gd name="adj" fmla="val 14082"/>
            </a:avLst>
          </a:prstGeom>
          <a:solidFill>
            <a:srgbClr val="00964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86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" name="Google Shape;112;p2">
            <a:extLst>
              <a:ext uri="{FF2B5EF4-FFF2-40B4-BE49-F238E27FC236}">
                <a16:creationId xmlns:a16="http://schemas.microsoft.com/office/drawing/2014/main" id="{62F591E4-1604-6018-A609-C4ABF5903E1F}"/>
              </a:ext>
            </a:extLst>
          </p:cNvPr>
          <p:cNvSpPr/>
          <p:nvPr/>
        </p:nvSpPr>
        <p:spPr>
          <a:xfrm>
            <a:off x="2160159" y="1155550"/>
            <a:ext cx="1202700" cy="598500"/>
          </a:xfrm>
          <a:prstGeom prst="roundRect">
            <a:avLst>
              <a:gd name="adj" fmla="val 4594"/>
            </a:avLst>
          </a:prstGeom>
          <a:noFill/>
          <a:ln w="25400" cap="flat" cmpd="sng">
            <a:solidFill>
              <a:srgbClr val="0096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714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" name="Google Shape;114;p2">
            <a:extLst>
              <a:ext uri="{FF2B5EF4-FFF2-40B4-BE49-F238E27FC236}">
                <a16:creationId xmlns:a16="http://schemas.microsoft.com/office/drawing/2014/main" id="{D597C934-F07E-2C87-F007-EF609FDDDC86}"/>
              </a:ext>
            </a:extLst>
          </p:cNvPr>
          <p:cNvSpPr/>
          <p:nvPr/>
        </p:nvSpPr>
        <p:spPr>
          <a:xfrm>
            <a:off x="520206" y="2127175"/>
            <a:ext cx="1202700" cy="598500"/>
          </a:xfrm>
          <a:prstGeom prst="roundRect">
            <a:avLst>
              <a:gd name="adj" fmla="val 4594"/>
            </a:avLst>
          </a:prstGeom>
          <a:noFill/>
          <a:ln w="25400" cap="flat" cmpd="sng">
            <a:solidFill>
              <a:srgbClr val="0096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714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" name="Google Shape;115;p2">
            <a:extLst>
              <a:ext uri="{FF2B5EF4-FFF2-40B4-BE49-F238E27FC236}">
                <a16:creationId xmlns:a16="http://schemas.microsoft.com/office/drawing/2014/main" id="{45488C90-151D-32E9-10DC-0A0F122B9B86}"/>
              </a:ext>
            </a:extLst>
          </p:cNvPr>
          <p:cNvSpPr/>
          <p:nvPr/>
        </p:nvSpPr>
        <p:spPr>
          <a:xfrm>
            <a:off x="2166215" y="2127175"/>
            <a:ext cx="1202700" cy="598500"/>
          </a:xfrm>
          <a:prstGeom prst="roundRect">
            <a:avLst>
              <a:gd name="adj" fmla="val 4594"/>
            </a:avLst>
          </a:prstGeom>
          <a:noFill/>
          <a:ln w="25400" cap="flat" cmpd="sng">
            <a:solidFill>
              <a:srgbClr val="0096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714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" name="Google Shape;116;p2">
            <a:extLst>
              <a:ext uri="{FF2B5EF4-FFF2-40B4-BE49-F238E27FC236}">
                <a16:creationId xmlns:a16="http://schemas.microsoft.com/office/drawing/2014/main" id="{E003B0D1-A36E-8095-68E1-C1EC657EF092}"/>
              </a:ext>
            </a:extLst>
          </p:cNvPr>
          <p:cNvSpPr/>
          <p:nvPr/>
        </p:nvSpPr>
        <p:spPr>
          <a:xfrm>
            <a:off x="493725" y="4070550"/>
            <a:ext cx="2927400" cy="1988700"/>
          </a:xfrm>
          <a:prstGeom prst="roundRect">
            <a:avLst>
              <a:gd name="adj" fmla="val 4594"/>
            </a:avLst>
          </a:prstGeom>
          <a:noFill/>
          <a:ln w="25400" cap="flat" cmpd="sng">
            <a:solidFill>
              <a:srgbClr val="0096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714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" name="Google Shape;117;p2">
            <a:extLst>
              <a:ext uri="{FF2B5EF4-FFF2-40B4-BE49-F238E27FC236}">
                <a16:creationId xmlns:a16="http://schemas.microsoft.com/office/drawing/2014/main" id="{615750F2-832D-E6E9-01EF-4AA641673642}"/>
              </a:ext>
            </a:extLst>
          </p:cNvPr>
          <p:cNvSpPr txBox="1"/>
          <p:nvPr/>
        </p:nvSpPr>
        <p:spPr>
          <a:xfrm>
            <a:off x="632617" y="1021006"/>
            <a:ext cx="2181600" cy="29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86" b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ПАРАМЕТРЫ ПРОЕКТА</a:t>
            </a:r>
            <a:endParaRPr/>
          </a:p>
        </p:txBody>
      </p:sp>
      <p:sp>
        <p:nvSpPr>
          <p:cNvPr id="18" name="Google Shape;120;p2">
            <a:extLst>
              <a:ext uri="{FF2B5EF4-FFF2-40B4-BE49-F238E27FC236}">
                <a16:creationId xmlns:a16="http://schemas.microsoft.com/office/drawing/2014/main" id="{8F4B13AE-8218-7829-F3E5-B27C1618D1D4}"/>
              </a:ext>
            </a:extLst>
          </p:cNvPr>
          <p:cNvSpPr/>
          <p:nvPr/>
        </p:nvSpPr>
        <p:spPr>
          <a:xfrm>
            <a:off x="520206" y="3036225"/>
            <a:ext cx="1202700" cy="598500"/>
          </a:xfrm>
          <a:prstGeom prst="roundRect">
            <a:avLst>
              <a:gd name="adj" fmla="val 4594"/>
            </a:avLst>
          </a:prstGeom>
          <a:noFill/>
          <a:ln w="25400" cap="flat" cmpd="sng">
            <a:solidFill>
              <a:srgbClr val="0096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714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" name="Google Shape;121;p2">
            <a:extLst>
              <a:ext uri="{FF2B5EF4-FFF2-40B4-BE49-F238E27FC236}">
                <a16:creationId xmlns:a16="http://schemas.microsoft.com/office/drawing/2014/main" id="{EC2EB962-60A7-2F68-539A-EF419F0449B2}"/>
              </a:ext>
            </a:extLst>
          </p:cNvPr>
          <p:cNvSpPr/>
          <p:nvPr/>
        </p:nvSpPr>
        <p:spPr>
          <a:xfrm>
            <a:off x="2166215" y="3028550"/>
            <a:ext cx="1202700" cy="598500"/>
          </a:xfrm>
          <a:prstGeom prst="roundRect">
            <a:avLst>
              <a:gd name="adj" fmla="val 4594"/>
            </a:avLst>
          </a:prstGeom>
          <a:noFill/>
          <a:ln w="25400" cap="flat" cmpd="sng">
            <a:solidFill>
              <a:srgbClr val="0096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714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" name="plotn_zastr">
            <a:extLst>
              <a:ext uri="{FF2B5EF4-FFF2-40B4-BE49-F238E27FC236}">
                <a16:creationId xmlns:a16="http://schemas.microsoft.com/office/drawing/2014/main" id="{92254B76-86A8-2377-6E3D-6EF0BB0298F2}"/>
              </a:ext>
            </a:extLst>
          </p:cNvPr>
          <p:cNvSpPr txBox="1"/>
          <p:nvPr/>
        </p:nvSpPr>
        <p:spPr>
          <a:xfrm>
            <a:off x="2208670" y="1311405"/>
            <a:ext cx="1375500" cy="29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86" b="1" dirty="0">
                <a:solidFill>
                  <a:schemeClr val="lt1"/>
                </a:solidFill>
                <a:extLst>
                  <a:ext uri="http://customooxmlschemas.google.com/">
              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textRoundtripDataId="6"/>
                  </a:ext>
                </a:extLst>
              </a:rPr>
              <a:t>X</a:t>
            </a:r>
            <a:endParaRPr sz="571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" name="Google Shape;123;p2">
            <a:extLst>
              <a:ext uri="{FF2B5EF4-FFF2-40B4-BE49-F238E27FC236}">
                <a16:creationId xmlns:a16="http://schemas.microsoft.com/office/drawing/2014/main" id="{5F6478D3-EF11-1341-7C2C-89445A4CF08F}"/>
              </a:ext>
            </a:extLst>
          </p:cNvPr>
          <p:cNvSpPr txBox="1"/>
          <p:nvPr/>
        </p:nvSpPr>
        <p:spPr>
          <a:xfrm>
            <a:off x="2208670" y="1561190"/>
            <a:ext cx="1257300" cy="18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571" dirty="0">
                <a:solidFill>
                  <a:schemeClr val="lt1"/>
                </a:solidFill>
              </a:rPr>
              <a:t>плотность застройки</a:t>
            </a:r>
            <a:endParaRPr dirty="0"/>
          </a:p>
        </p:txBody>
      </p:sp>
      <p:sp>
        <p:nvSpPr>
          <p:cNvPr id="22" name="Google Shape;124;p2">
            <a:extLst>
              <a:ext uri="{FF2B5EF4-FFF2-40B4-BE49-F238E27FC236}">
                <a16:creationId xmlns:a16="http://schemas.microsoft.com/office/drawing/2014/main" id="{F24081A2-83FC-7EDD-99A7-2D7FCBDAF5D2}"/>
              </a:ext>
            </a:extLst>
          </p:cNvPr>
          <p:cNvSpPr txBox="1"/>
          <p:nvPr/>
        </p:nvSpPr>
        <p:spPr>
          <a:xfrm>
            <a:off x="641080" y="2237268"/>
            <a:ext cx="585255" cy="29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86" b="1" dirty="0">
                <a:solidFill>
                  <a:schemeClr val="lt1"/>
                </a:solidFill>
                <a:extLst>
                  <a:ext uri="http://customooxmlschemas.google.com/">
              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textRoundtripDataId="8"/>
                  </a:ext>
                </a:extLst>
              </a:rPr>
              <a:t>X</a:t>
            </a:r>
            <a:endParaRPr dirty="0"/>
          </a:p>
        </p:txBody>
      </p:sp>
      <p:sp>
        <p:nvSpPr>
          <p:cNvPr id="23" name="Google Shape;125;p2">
            <a:extLst>
              <a:ext uri="{FF2B5EF4-FFF2-40B4-BE49-F238E27FC236}">
                <a16:creationId xmlns:a16="http://schemas.microsoft.com/office/drawing/2014/main" id="{0A385F44-BAE4-0D3B-294C-35658AE88855}"/>
              </a:ext>
            </a:extLst>
          </p:cNvPr>
          <p:cNvSpPr txBox="1"/>
          <p:nvPr/>
        </p:nvSpPr>
        <p:spPr>
          <a:xfrm>
            <a:off x="641067" y="2497946"/>
            <a:ext cx="1257300" cy="18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571" dirty="0">
                <a:solidFill>
                  <a:schemeClr val="lt1"/>
                </a:solidFill>
              </a:rPr>
              <a:t>инвестиции</a:t>
            </a:r>
            <a:endParaRPr dirty="0"/>
          </a:p>
        </p:txBody>
      </p:sp>
      <p:sp>
        <p:nvSpPr>
          <p:cNvPr id="24" name="area_m2">
            <a:extLst>
              <a:ext uri="{FF2B5EF4-FFF2-40B4-BE49-F238E27FC236}">
                <a16:creationId xmlns:a16="http://schemas.microsoft.com/office/drawing/2014/main" id="{AD20FB8E-8F50-71AD-3394-57F7641BCDA0}"/>
              </a:ext>
            </a:extLst>
          </p:cNvPr>
          <p:cNvSpPr txBox="1"/>
          <p:nvPr/>
        </p:nvSpPr>
        <p:spPr>
          <a:xfrm>
            <a:off x="2267780" y="2212006"/>
            <a:ext cx="637980" cy="2901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rPr lang="ru-RU" sz="1286" b="1" dirty="0">
                <a:solidFill>
                  <a:schemeClr val="lt1"/>
                </a:solidFill>
                <a:extLst>
                  <a:ext uri="http://customooxmlschemas.google.com/">
              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textRoundtripDataId="10"/>
                  </a:ext>
                </a:extLst>
              </a:rPr>
              <a:t>ХХ</a:t>
            </a:r>
            <a:endParaRPr dirty="0"/>
          </a:p>
        </p:txBody>
      </p:sp>
      <p:sp>
        <p:nvSpPr>
          <p:cNvPr id="25" name="Google Shape;127;p2">
            <a:extLst>
              <a:ext uri="{FF2B5EF4-FFF2-40B4-BE49-F238E27FC236}">
                <a16:creationId xmlns:a16="http://schemas.microsoft.com/office/drawing/2014/main" id="{92C1425A-2C83-8DA2-97CB-25F213B5A4C1}"/>
              </a:ext>
            </a:extLst>
          </p:cNvPr>
          <p:cNvSpPr txBox="1"/>
          <p:nvPr/>
        </p:nvSpPr>
        <p:spPr>
          <a:xfrm>
            <a:off x="2267767" y="2472684"/>
            <a:ext cx="1257300" cy="18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571">
                <a:solidFill>
                  <a:schemeClr val="lt1"/>
                </a:solidFill>
              </a:rPr>
              <a:t>площадь объекта</a:t>
            </a:r>
            <a:endParaRPr/>
          </a:p>
        </p:txBody>
      </p:sp>
      <p:sp>
        <p:nvSpPr>
          <p:cNvPr id="26" name="zu_number">
            <a:extLst>
              <a:ext uri="{FF2B5EF4-FFF2-40B4-BE49-F238E27FC236}">
                <a16:creationId xmlns:a16="http://schemas.microsoft.com/office/drawing/2014/main" id="{FB4A0950-B4FF-DBDA-E910-39C7DCF7BA16}"/>
              </a:ext>
            </a:extLst>
          </p:cNvPr>
          <p:cNvSpPr txBox="1"/>
          <p:nvPr/>
        </p:nvSpPr>
        <p:spPr>
          <a:xfrm>
            <a:off x="588650" y="4257625"/>
            <a:ext cx="2689500" cy="48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86" b="1" dirty="0">
                <a:solidFill>
                  <a:schemeClr val="lt1"/>
                </a:solidFill>
              </a:rPr>
              <a:t>(</a:t>
            </a:r>
            <a:r>
              <a:rPr lang="en-US" sz="1286" b="1" dirty="0">
                <a:solidFill>
                  <a:schemeClr val="lt1"/>
                </a:solidFill>
              </a:rPr>
              <a:t>XXXX)</a:t>
            </a:r>
            <a:endParaRPr sz="1286" b="1" dirty="0">
              <a:solidFill>
                <a:schemeClr val="lt1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86" b="1" dirty="0">
              <a:solidFill>
                <a:schemeClr val="lt1"/>
              </a:solidFill>
            </a:endParaRPr>
          </a:p>
        </p:txBody>
      </p:sp>
      <p:sp>
        <p:nvSpPr>
          <p:cNvPr id="27" name="Google Shape;129;p2">
            <a:extLst>
              <a:ext uri="{FF2B5EF4-FFF2-40B4-BE49-F238E27FC236}">
                <a16:creationId xmlns:a16="http://schemas.microsoft.com/office/drawing/2014/main" id="{00344DC5-28B2-1C2F-CEDC-29A95E0A60F1}"/>
              </a:ext>
            </a:extLst>
          </p:cNvPr>
          <p:cNvSpPr txBox="1"/>
          <p:nvPr/>
        </p:nvSpPr>
        <p:spPr>
          <a:xfrm>
            <a:off x="588630" y="4143271"/>
            <a:ext cx="1257300" cy="18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571">
                <a:solidFill>
                  <a:schemeClr val="lt1"/>
                </a:solidFill>
              </a:rPr>
              <a:t>номер ЗУ</a:t>
            </a:r>
            <a:endParaRPr/>
          </a:p>
        </p:txBody>
      </p:sp>
      <p:sp>
        <p:nvSpPr>
          <p:cNvPr id="28" name="year_entered">
            <a:extLst>
              <a:ext uri="{FF2B5EF4-FFF2-40B4-BE49-F238E27FC236}">
                <a16:creationId xmlns:a16="http://schemas.microsoft.com/office/drawing/2014/main" id="{6A84250E-272B-9912-93FC-AF44E8F01121}"/>
              </a:ext>
            </a:extLst>
          </p:cNvPr>
          <p:cNvSpPr txBox="1"/>
          <p:nvPr/>
        </p:nvSpPr>
        <p:spPr>
          <a:xfrm>
            <a:off x="641092" y="3105927"/>
            <a:ext cx="1057500" cy="29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86" b="1" dirty="0">
                <a:solidFill>
                  <a:schemeClr val="lt1"/>
                </a:solidFill>
              </a:rPr>
              <a:t>ХХХХ</a:t>
            </a:r>
            <a:endParaRPr dirty="0"/>
          </a:p>
        </p:txBody>
      </p:sp>
      <p:sp>
        <p:nvSpPr>
          <p:cNvPr id="29" name="Google Shape;135;p2">
            <a:extLst>
              <a:ext uri="{FF2B5EF4-FFF2-40B4-BE49-F238E27FC236}">
                <a16:creationId xmlns:a16="http://schemas.microsoft.com/office/drawing/2014/main" id="{A4895108-E812-B840-DBA5-93AAF064EFA7}"/>
              </a:ext>
            </a:extLst>
          </p:cNvPr>
          <p:cNvSpPr txBox="1"/>
          <p:nvPr/>
        </p:nvSpPr>
        <p:spPr>
          <a:xfrm>
            <a:off x="641080" y="3339309"/>
            <a:ext cx="1257300" cy="18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571">
                <a:solidFill>
                  <a:schemeClr val="lt1"/>
                </a:solidFill>
              </a:rPr>
              <a:t>год ввода</a:t>
            </a:r>
            <a:endParaRPr/>
          </a:p>
        </p:txBody>
      </p:sp>
      <p:sp>
        <p:nvSpPr>
          <p:cNvPr id="32" name="Google Shape;138;p2">
            <a:extLst>
              <a:ext uri="{FF2B5EF4-FFF2-40B4-BE49-F238E27FC236}">
                <a16:creationId xmlns:a16="http://schemas.microsoft.com/office/drawing/2014/main" id="{4F8F7151-1DF8-FB23-3258-BD95AAFEE4CA}"/>
              </a:ext>
            </a:extLst>
          </p:cNvPr>
          <p:cNvSpPr/>
          <p:nvPr/>
        </p:nvSpPr>
        <p:spPr>
          <a:xfrm>
            <a:off x="3983113" y="1155550"/>
            <a:ext cx="2927400" cy="1988700"/>
          </a:xfrm>
          <a:prstGeom prst="roundRect">
            <a:avLst>
              <a:gd name="adj" fmla="val 4594"/>
            </a:avLst>
          </a:prstGeom>
          <a:noFill/>
          <a:ln w="25400" cap="flat" cmpd="sng">
            <a:solidFill>
              <a:srgbClr val="0096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714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" name="ProjectDescription">
            <a:extLst>
              <a:ext uri="{FF2B5EF4-FFF2-40B4-BE49-F238E27FC236}">
                <a16:creationId xmlns:a16="http://schemas.microsoft.com/office/drawing/2014/main" id="{DCD990F4-2E0E-B79B-BA9C-44CCF7321CEB}"/>
              </a:ext>
            </a:extLst>
          </p:cNvPr>
          <p:cNvSpPr txBox="1"/>
          <p:nvPr/>
        </p:nvSpPr>
        <p:spPr>
          <a:xfrm>
            <a:off x="514151" y="773350"/>
            <a:ext cx="1754100" cy="22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871" dirty="0">
                <a:solidFill>
                  <a:schemeClr val="lt1"/>
                </a:solidFill>
                <a:extLst>
                  <a:ext uri="http://customooxmlschemas.google.com/">
              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textRoundtripDataId="0"/>
                  </a:ext>
                </a:extLst>
              </a:rPr>
              <a:t>Описание проекта</a:t>
            </a:r>
            <a:endParaRPr sz="871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" name="Google Shape;123;p2">
            <a:extLst>
              <a:ext uri="{FF2B5EF4-FFF2-40B4-BE49-F238E27FC236}">
                <a16:creationId xmlns:a16="http://schemas.microsoft.com/office/drawing/2014/main" id="{A8804649-716C-2E70-5998-B0B5792085E5}"/>
              </a:ext>
            </a:extLst>
          </p:cNvPr>
          <p:cNvSpPr txBox="1"/>
          <p:nvPr/>
        </p:nvSpPr>
        <p:spPr>
          <a:xfrm>
            <a:off x="654411" y="1542030"/>
            <a:ext cx="1257300" cy="18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571" dirty="0">
                <a:solidFill>
                  <a:schemeClr val="lt1"/>
                </a:solidFill>
                <a:extLst>
                  <a:ext uri="http://customooxmlschemas.google.com/">
              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xmlns:lc="http://schemas.openxmlformats.org/drawingml/2006/lockedCanvas" textRoundtripDataId="5"/>
                  </a:ext>
                </a:extLst>
              </a:rPr>
              <a:t>фактическая площадь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1973B0D-2860-C57B-48DA-95F5E7CA5178}"/>
              </a:ext>
            </a:extLst>
          </p:cNvPr>
          <p:cNvSpPr txBox="1"/>
          <p:nvPr/>
        </p:nvSpPr>
        <p:spPr>
          <a:xfrm>
            <a:off x="2484332" y="3181683"/>
            <a:ext cx="482052" cy="2242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857" b="1" dirty="0">
                <a:solidFill>
                  <a:schemeClr val="lt1"/>
                </a:solidFill>
                <a:extLst>
                  <a:ext uri="http://customooxmlschemas.google.com/">
              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textRoundtripDataId="12"/>
                  </a:ext>
                </a:extLst>
              </a:rPr>
              <a:t>га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B5F2D6A-79C3-B9EF-28D4-EE113C19B1DE}"/>
              </a:ext>
            </a:extLst>
          </p:cNvPr>
          <p:cNvSpPr txBox="1"/>
          <p:nvPr/>
        </p:nvSpPr>
        <p:spPr>
          <a:xfrm>
            <a:off x="924740" y="2273717"/>
            <a:ext cx="810751" cy="2242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857" b="1" dirty="0">
                <a:solidFill>
                  <a:schemeClr val="lt1"/>
                </a:solidFill>
                <a:extLst>
                  <a:ext uri="http://customooxmlschemas.google.com/">
              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textRoundtripDataId="9"/>
                  </a:ext>
                </a:extLst>
              </a:rPr>
              <a:t>млрд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62D9647-87EE-0B8A-62CB-7B51F3930869}"/>
              </a:ext>
            </a:extLst>
          </p:cNvPr>
          <p:cNvSpPr txBox="1"/>
          <p:nvPr/>
        </p:nvSpPr>
        <p:spPr>
          <a:xfrm>
            <a:off x="2471289" y="1350729"/>
            <a:ext cx="1140018" cy="2242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857" b="1" dirty="0" err="1">
                <a:solidFill>
                  <a:schemeClr val="lt1"/>
                </a:solidFill>
                <a:extLst>
                  <a:ext uri="http://customooxmlschemas.google.com/">
              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textRoundtripDataId="12"/>
                  </a:ext>
                </a:extLst>
              </a:rPr>
              <a:t>кв.м</a:t>
            </a:r>
            <a:r>
              <a:rPr lang="ru-RU" sz="857" b="1" dirty="0">
                <a:solidFill>
                  <a:schemeClr val="lt1"/>
                </a:solidFill>
                <a:extLst>
                  <a:ext uri="http://customooxmlschemas.google.com/">
              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textRoundtripDataId="12"/>
                  </a:ext>
                </a:extLst>
              </a:rPr>
              <a:t>/Га</a:t>
            </a:r>
          </a:p>
        </p:txBody>
      </p:sp>
      <p:sp>
        <p:nvSpPr>
          <p:cNvPr id="45" name="Google Shape;118;p2">
            <a:extLst>
              <a:ext uri="{FF2B5EF4-FFF2-40B4-BE49-F238E27FC236}">
                <a16:creationId xmlns:a16="http://schemas.microsoft.com/office/drawing/2014/main" id="{A23BD0CC-E2BA-2D25-8DFC-56342099BFC0}"/>
              </a:ext>
            </a:extLst>
          </p:cNvPr>
          <p:cNvSpPr/>
          <p:nvPr/>
        </p:nvSpPr>
        <p:spPr>
          <a:xfrm>
            <a:off x="7309475" y="5641523"/>
            <a:ext cx="4056600" cy="257400"/>
          </a:xfrm>
          <a:prstGeom prst="roundRect">
            <a:avLst>
              <a:gd name="adj" fmla="val 4594"/>
            </a:avLst>
          </a:prstGeom>
          <a:noFill/>
          <a:ln w="25400" cap="flat" cmpd="sng">
            <a:solidFill>
              <a:srgbClr val="0096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714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" name="Google Shape;119;p2">
            <a:extLst>
              <a:ext uri="{FF2B5EF4-FFF2-40B4-BE49-F238E27FC236}">
                <a16:creationId xmlns:a16="http://schemas.microsoft.com/office/drawing/2014/main" id="{FBD03DED-8827-3976-DF77-1C32CB1450B1}"/>
              </a:ext>
            </a:extLst>
          </p:cNvPr>
          <p:cNvSpPr/>
          <p:nvPr/>
        </p:nvSpPr>
        <p:spPr>
          <a:xfrm>
            <a:off x="7324424" y="6070198"/>
            <a:ext cx="2245563" cy="598500"/>
          </a:xfrm>
          <a:prstGeom prst="roundRect">
            <a:avLst>
              <a:gd name="adj" fmla="val 4594"/>
            </a:avLst>
          </a:prstGeom>
          <a:noFill/>
          <a:ln w="25400" cap="flat" cmpd="sng">
            <a:solidFill>
              <a:srgbClr val="0096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714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" name="project_render_filename">
            <a:extLst>
              <a:ext uri="{FF2B5EF4-FFF2-40B4-BE49-F238E27FC236}">
                <a16:creationId xmlns:a16="http://schemas.microsoft.com/office/drawing/2014/main" id="{ECA11FEF-19A3-99BC-675F-C7D84628AB7D}"/>
              </a:ext>
            </a:extLst>
          </p:cNvPr>
          <p:cNvSpPr txBox="1"/>
          <p:nvPr/>
        </p:nvSpPr>
        <p:spPr>
          <a:xfrm>
            <a:off x="7386130" y="5680069"/>
            <a:ext cx="3902562" cy="1801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571" dirty="0">
                <a:solidFill>
                  <a:schemeClr val="lt1"/>
                </a:solidFill>
                <a:extLst>
                  <a:ext uri="http://customooxmlschemas.google.com/">
              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textRoundtripDataId="14"/>
                  </a:ext>
                </a:extLst>
              </a:rPr>
              <a:t>Ссылка на рендеры</a:t>
            </a:r>
            <a:endParaRPr dirty="0"/>
          </a:p>
        </p:txBody>
      </p:sp>
      <p:sp>
        <p:nvSpPr>
          <p:cNvPr id="48" name="Google Shape;131;p2">
            <a:extLst>
              <a:ext uri="{FF2B5EF4-FFF2-40B4-BE49-F238E27FC236}">
                <a16:creationId xmlns:a16="http://schemas.microsoft.com/office/drawing/2014/main" id="{5EE1CD75-AFE1-E99B-8D46-489693D090A5}"/>
              </a:ext>
            </a:extLst>
          </p:cNvPr>
          <p:cNvSpPr txBox="1"/>
          <p:nvPr/>
        </p:nvSpPr>
        <p:spPr>
          <a:xfrm>
            <a:off x="7386117" y="6409682"/>
            <a:ext cx="1257300" cy="18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571">
                <a:solidFill>
                  <a:schemeClr val="lt1"/>
                </a:solidFill>
              </a:rPr>
              <a:t>стадия</a:t>
            </a:r>
            <a:endParaRPr/>
          </a:p>
        </p:txBody>
      </p:sp>
      <p:sp>
        <p:nvSpPr>
          <p:cNvPr id="49" name="stage">
            <a:extLst>
              <a:ext uri="{FF2B5EF4-FFF2-40B4-BE49-F238E27FC236}">
                <a16:creationId xmlns:a16="http://schemas.microsoft.com/office/drawing/2014/main" id="{73C7AB51-A8F9-C0EB-406E-8DB54D1BEEEA}"/>
              </a:ext>
            </a:extLst>
          </p:cNvPr>
          <p:cNvSpPr txBox="1"/>
          <p:nvPr/>
        </p:nvSpPr>
        <p:spPr>
          <a:xfrm>
            <a:off x="7386117" y="6113516"/>
            <a:ext cx="1057500" cy="29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86" b="1" dirty="0">
                <a:solidFill>
                  <a:schemeClr val="lt1"/>
                </a:solidFill>
              </a:rPr>
              <a:t>Стадия</a:t>
            </a:r>
            <a:endParaRPr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7FA3A6D6-4FCD-8257-A3FA-11A20AA9B2AE}"/>
              </a:ext>
            </a:extLst>
          </p:cNvPr>
          <p:cNvSpPr txBox="1"/>
          <p:nvPr/>
        </p:nvSpPr>
        <p:spPr>
          <a:xfrm>
            <a:off x="2542389" y="2261015"/>
            <a:ext cx="850723" cy="2242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857" b="1" dirty="0">
                <a:solidFill>
                  <a:schemeClr val="lt1"/>
                </a:solidFill>
                <a:extLst>
                  <a:ext uri="http://customooxmlschemas.google.com/">
              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textRoundtripDataId="12"/>
                  </a:ext>
                </a:extLst>
              </a:rPr>
              <a:t>тыс.м2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84</TotalTime>
  <Words>76</Words>
  <Application>Microsoft Office PowerPoint</Application>
  <PresentationFormat>Широкоэкранный</PresentationFormat>
  <Paragraphs>36</Paragraphs>
  <Slides>2</Slides>
  <Notes>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</vt:i4>
      </vt:variant>
    </vt:vector>
  </HeadingPairs>
  <TitlesOfParts>
    <vt:vector size="5" baseType="lpstr">
      <vt:lpstr>Arial</vt:lpstr>
      <vt:lpstr>Calibri</vt:lpstr>
      <vt:lpstr>Тема Office</vt:lpstr>
      <vt:lpstr>Состав проекта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Сергеев Владислав Юрьевич</dc:creator>
  <cp:lastModifiedBy>PC</cp:lastModifiedBy>
  <cp:revision>41</cp:revision>
  <dcterms:created xsi:type="dcterms:W3CDTF">2025-07-31T07:21:50Z</dcterms:created>
  <dcterms:modified xsi:type="dcterms:W3CDTF">2026-03-18T07:55:10Z</dcterms:modified>
</cp:coreProperties>
</file>