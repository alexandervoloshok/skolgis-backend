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57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7423">
          <p15:clr>
            <a:srgbClr val="F26B43"/>
          </p15:clr>
        </p15:guide>
        <p15:guide id="5" pos="3840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+3mxE5o7GXHaj57Ss1rmUYwTV0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Юлия Родикова" initials="" lastIdx="4" clrIdx="0"/>
  <p:cmAuthor id="1" name="PC" initials="P" lastIdx="1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32"/>
        <p:guide pos="257"/>
        <p:guide orient="horz" pos="4088"/>
        <p:guide pos="7423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B6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82E5E-129E-CD0C-F7A7-DE84F599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SzPts val="5000"/>
            </a:pPr>
            <a:r>
              <a:rPr lang="ru-RU" sz="2400" b="1" dirty="0">
                <a:solidFill>
                  <a:schemeClr val="lt1"/>
                </a:solidFill>
                <a:latin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"/>
                  </a:ext>
                </a:extLst>
              </a:rPr>
              <a:t>Состав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952184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arcel_area_ga"/>
          <p:cNvSpPr txBox="1"/>
          <p:nvPr/>
        </p:nvSpPr>
        <p:spPr>
          <a:xfrm>
            <a:off x="2244818" y="1648364"/>
            <a:ext cx="719796" cy="29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6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57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MapImage"/>
          <p:cNvPicPr preferRelativeResize="0"/>
          <p:nvPr/>
        </p:nvPicPr>
        <p:blipFill rotWithShape="1">
          <a:blip r:embed="rId3">
            <a:alphaModFix/>
          </a:blip>
          <a:srcRect b="8323"/>
          <a:stretch/>
        </p:blipFill>
        <p:spPr>
          <a:xfrm>
            <a:off x="7324420" y="1443834"/>
            <a:ext cx="4056654" cy="4348335"/>
          </a:xfrm>
          <a:prstGeom prst="roundRect">
            <a:avLst>
              <a:gd name="adj" fmla="val 2579"/>
            </a:avLst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B0F1CC-38FC-678C-72FC-3893A3684A4B}"/>
              </a:ext>
            </a:extLst>
          </p:cNvPr>
          <p:cNvSpPr txBox="1"/>
          <p:nvPr/>
        </p:nvSpPr>
        <p:spPr>
          <a:xfrm>
            <a:off x="2228976" y="1876478"/>
            <a:ext cx="772409" cy="180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71" dirty="0">
                <a:solidFill>
                  <a:schemeClr val="lt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</a:ext>
                </a:extLst>
              </a:rPr>
              <a:t>площадь ЗУ</a:t>
            </a:r>
          </a:p>
        </p:txBody>
      </p:sp>
      <p:sp>
        <p:nvSpPr>
          <p:cNvPr id="89" name="Google Shape;89;p2"/>
          <p:cNvSpPr txBox="1">
            <a:spLocks noGrp="1"/>
          </p:cNvSpPr>
          <p:nvPr>
            <p:ph type="sldNum" idx="12"/>
          </p:nvPr>
        </p:nvSpPr>
        <p:spPr>
          <a:xfrm>
            <a:off x="11288692" y="6476750"/>
            <a:ext cx="184764" cy="25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4" name="spp_gab"/>
          <p:cNvSpPr txBox="1"/>
          <p:nvPr/>
        </p:nvSpPr>
        <p:spPr>
          <a:xfrm>
            <a:off x="577578" y="1633807"/>
            <a:ext cx="1026533" cy="29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6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X</a:t>
            </a:r>
            <a:endParaRPr lang="ru-RU" dirty="0"/>
          </a:p>
        </p:txBody>
      </p:sp>
      <p:sp>
        <p:nvSpPr>
          <p:cNvPr id="96" name="investor-field"/>
          <p:cNvSpPr txBox="1"/>
          <p:nvPr/>
        </p:nvSpPr>
        <p:spPr>
          <a:xfrm>
            <a:off x="3923606" y="3918166"/>
            <a:ext cx="5881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</a:rPr>
              <a:t>Инвестор</a:t>
            </a:r>
            <a:r>
              <a:rPr lang="en-US" sz="1000" dirty="0">
                <a:solidFill>
                  <a:schemeClr val="lt1"/>
                </a:solidFill>
              </a:rPr>
              <a:t>:</a:t>
            </a:r>
            <a:endParaRPr dirty="0"/>
          </a:p>
        </p:txBody>
      </p:sp>
      <p:sp>
        <p:nvSpPr>
          <p:cNvPr id="101" name="Google Shape;101;p2"/>
          <p:cNvSpPr txBox="1"/>
          <p:nvPr/>
        </p:nvSpPr>
        <p:spPr>
          <a:xfrm>
            <a:off x="4217559" y="3064633"/>
            <a:ext cx="1883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14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ru-RU" sz="71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Архитектурная концепция находится</a:t>
            </a:r>
            <a:br>
              <a:rPr lang="ru-RU" sz="71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71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 стадии разработки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141043" y="1571339"/>
            <a:ext cx="20463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7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Пример визуализации*</a:t>
            </a:r>
            <a:endParaRPr sz="714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ProjectRend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1229" y="1899116"/>
            <a:ext cx="1915650" cy="1150200"/>
          </a:xfrm>
          <a:custGeom>
            <a:avLst/>
            <a:gdLst/>
            <a:ahLst/>
            <a:cxnLst/>
            <a:rect l="l" t="t" r="r" b="b"/>
            <a:pathLst>
              <a:path w="3564000" h="2160000" extrusionOk="0">
                <a:moveTo>
                  <a:pt x="182844" y="0"/>
                </a:moveTo>
                <a:lnTo>
                  <a:pt x="3381156" y="0"/>
                </a:lnTo>
                <a:cubicBezTo>
                  <a:pt x="3482138" y="0"/>
                  <a:pt x="3564000" y="81862"/>
                  <a:pt x="3564000" y="182844"/>
                </a:cubicBezTo>
                <a:lnTo>
                  <a:pt x="3564000" y="1977156"/>
                </a:lnTo>
                <a:cubicBezTo>
                  <a:pt x="3564000" y="2078138"/>
                  <a:pt x="3482138" y="2160000"/>
                  <a:pt x="3381156" y="2160000"/>
                </a:cubicBezTo>
                <a:lnTo>
                  <a:pt x="182844" y="2160000"/>
                </a:lnTo>
                <a:cubicBezTo>
                  <a:pt x="81862" y="2160000"/>
                  <a:pt x="0" y="2078138"/>
                  <a:pt x="0" y="1977156"/>
                </a:cubicBezTo>
                <a:lnTo>
                  <a:pt x="0" y="182844"/>
                </a:lnTo>
                <a:cubicBezTo>
                  <a:pt x="0" y="81862"/>
                  <a:pt x="81862" y="0"/>
                  <a:pt x="18284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>
            <a:off x="9544712" y="5382451"/>
            <a:ext cx="1701848" cy="237274"/>
          </a:xfrm>
          <a:prstGeom prst="roundRect">
            <a:avLst>
              <a:gd name="adj" fmla="val 4814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933361" y="5436172"/>
            <a:ext cx="1142942" cy="13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7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Запрашиваемый ЗУ</a:t>
            </a:r>
            <a:endParaRPr sz="714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676535" y="5436802"/>
            <a:ext cx="128571" cy="128571"/>
          </a:xfrm>
          <a:prstGeom prst="roundRect">
            <a:avLst>
              <a:gd name="adj" fmla="val 16667"/>
            </a:avLst>
          </a:prstGeom>
          <a:solidFill>
            <a:srgbClr val="009640">
              <a:alpha val="49803"/>
            </a:srgbClr>
          </a:solidFill>
          <a:ln w="1270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"/>
          <p:cNvCxnSpPr>
            <a:cxnSpLocks/>
          </p:cNvCxnSpPr>
          <p:nvPr/>
        </p:nvCxnSpPr>
        <p:spPr>
          <a:xfrm rot="10800000" flipH="1">
            <a:off x="8604888" y="5010112"/>
            <a:ext cx="965100" cy="111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1" name="Google Shape;111;p2"/>
          <p:cNvCxnSpPr/>
          <p:nvPr/>
        </p:nvCxnSpPr>
        <p:spPr>
          <a:xfrm rot="5400000">
            <a:off x="7909773" y="3770816"/>
            <a:ext cx="1911300" cy="4440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2"/>
          <p:cNvSpPr/>
          <p:nvPr/>
        </p:nvSpPr>
        <p:spPr>
          <a:xfrm>
            <a:off x="7453150" y="3357176"/>
            <a:ext cx="1575259" cy="316493"/>
          </a:xfrm>
          <a:prstGeom prst="roundRect">
            <a:avLst>
              <a:gd name="adj" fmla="val 280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"/>
          <p:cNvSpPr txBox="1"/>
          <p:nvPr/>
        </p:nvSpPr>
        <p:spPr>
          <a:xfrm>
            <a:off x="7832193" y="3371787"/>
            <a:ext cx="1035540" cy="13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7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Окружение</a:t>
            </a:r>
            <a:r>
              <a:rPr lang="ru-RU" sz="714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14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7574972" y="3395369"/>
            <a:ext cx="128571" cy="128571"/>
          </a:xfrm>
          <a:prstGeom prst="roundRect">
            <a:avLst>
              <a:gd name="adj" fmla="val 16667"/>
            </a:avLst>
          </a:prstGeom>
          <a:solidFill>
            <a:srgbClr val="7F7F7F">
              <a:alpha val="49803"/>
            </a:srgb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7309460" y="1443834"/>
            <a:ext cx="4081761" cy="4348336"/>
          </a:xfrm>
          <a:prstGeom prst="roundRect">
            <a:avLst>
              <a:gd name="adj" fmla="val 2594"/>
            </a:avLst>
          </a:prstGeom>
          <a:noFill/>
          <a:ln w="1905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7451488" y="1280659"/>
            <a:ext cx="2537551" cy="202701"/>
          </a:xfrm>
          <a:prstGeom prst="roundRect">
            <a:avLst>
              <a:gd name="adj" fmla="val 14082"/>
            </a:avLst>
          </a:prstGeom>
          <a:solidFill>
            <a:srgbClr val="009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7451488" y="1239664"/>
            <a:ext cx="2832489" cy="29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86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РАСПОЛОЖЕНИЕ ПРОЕКТА</a:t>
            </a:r>
            <a:endParaRPr/>
          </a:p>
        </p:txBody>
      </p:sp>
      <p:pic>
        <p:nvPicPr>
          <p:cNvPr id="119" name="surrounding_render_1" descr="БЦ Инновационный центр «Технопарк-Сколково» (Квартал Менделеева, Нобеля, 5)  – аренда и продажа помещений, офисов в Бизнес Центре Инновационный центр  «Технопарк-Сколково» (Квартал Менделеева, Нобеля, 5), Москва, Сколково  инновационного центра территория ..."/>
          <p:cNvPicPr preferRelativeResize="0"/>
          <p:nvPr/>
        </p:nvPicPr>
        <p:blipFill rotWithShape="1">
          <a:blip r:embed="rId5">
            <a:alphaModFix/>
          </a:blip>
          <a:srcRect r="10819" b="5908"/>
          <a:stretch/>
        </p:blipFill>
        <p:spPr>
          <a:xfrm>
            <a:off x="7460569" y="2026464"/>
            <a:ext cx="1699928" cy="1280504"/>
          </a:xfrm>
          <a:prstGeom prst="roundRect">
            <a:avLst>
              <a:gd name="adj" fmla="val 953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0" name="Google Shape;120;p2"/>
          <p:cNvPicPr preferRelativeResize="0"/>
          <p:nvPr/>
        </p:nvPicPr>
        <p:blipFill rotWithShape="1">
          <a:blip r:embed="rId6">
            <a:alphaModFix/>
          </a:blip>
          <a:srcRect l="8768" t="12393" r="12786" b="17789"/>
          <a:stretch/>
        </p:blipFill>
        <p:spPr>
          <a:xfrm>
            <a:off x="9544712" y="4107403"/>
            <a:ext cx="1709447" cy="1273381"/>
          </a:xfrm>
          <a:prstGeom prst="roundRect">
            <a:avLst>
              <a:gd name="adj" fmla="val 9530"/>
            </a:avLst>
          </a:prstGeom>
          <a:noFill/>
          <a:ln w="19050" cap="flat" cmpd="sng">
            <a:solidFill>
              <a:srgbClr val="00964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1" name="Google Shape;121;p2"/>
          <p:cNvSpPr/>
          <p:nvPr/>
        </p:nvSpPr>
        <p:spPr>
          <a:xfrm>
            <a:off x="10285639" y="4584537"/>
            <a:ext cx="494393" cy="244929"/>
          </a:xfrm>
          <a:custGeom>
            <a:avLst/>
            <a:gdLst/>
            <a:ahLst/>
            <a:cxnLst/>
            <a:rect l="l" t="t" r="r" b="b"/>
            <a:pathLst>
              <a:path w="692150" h="342900" extrusionOk="0">
                <a:moveTo>
                  <a:pt x="38100" y="342900"/>
                </a:moveTo>
                <a:lnTo>
                  <a:pt x="692150" y="304800"/>
                </a:lnTo>
                <a:lnTo>
                  <a:pt x="584200" y="0"/>
                </a:lnTo>
                <a:lnTo>
                  <a:pt x="0" y="69850"/>
                </a:lnTo>
                <a:lnTo>
                  <a:pt x="38100" y="342900"/>
                </a:lnTo>
                <a:close/>
              </a:path>
            </a:pathLst>
          </a:custGeom>
          <a:solidFill>
            <a:srgbClr val="C4BEF8">
              <a:alpha val="49803"/>
            </a:srgbClr>
          </a:solidFill>
          <a:ln w="19050" cap="flat" cmpd="sng">
            <a:solidFill>
              <a:srgbClr val="7165E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name"/>
          <p:cNvSpPr txBox="1"/>
          <p:nvPr/>
        </p:nvSpPr>
        <p:spPr>
          <a:xfrm>
            <a:off x="407988" y="282162"/>
            <a:ext cx="11376025" cy="41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"/>
                  </a:ext>
                </a:extLst>
              </a:rPr>
              <a:t>НАЗВАНИЕ ОБЪЕКТА</a:t>
            </a:r>
            <a:endParaRPr sz="24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investor">
            <a:extLst>
              <a:ext uri="{FF2B5EF4-FFF2-40B4-BE49-F238E27FC236}">
                <a16:creationId xmlns:a16="http://schemas.microsoft.com/office/drawing/2014/main" id="{5B4F85F6-845A-B617-1610-B3782C48379C}"/>
              </a:ext>
            </a:extLst>
          </p:cNvPr>
          <p:cNvSpPr txBox="1"/>
          <p:nvPr/>
        </p:nvSpPr>
        <p:spPr>
          <a:xfrm>
            <a:off x="4620902" y="3924742"/>
            <a:ext cx="5119918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</a:rPr>
              <a:t>Инвестор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EA67D-42D5-143A-EB41-B7F49239C673}"/>
              </a:ext>
            </a:extLst>
          </p:cNvPr>
          <p:cNvSpPr txBox="1"/>
          <p:nvPr/>
        </p:nvSpPr>
        <p:spPr>
          <a:xfrm>
            <a:off x="1068332" y="1680348"/>
            <a:ext cx="618421" cy="224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7" b="1" dirty="0">
                <a:solidFill>
                  <a:schemeClr val="lt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9"/>
                  </a:ext>
                </a:extLst>
              </a:rPr>
              <a:t>тыс. м2</a:t>
            </a:r>
          </a:p>
        </p:txBody>
      </p:sp>
      <p:sp>
        <p:nvSpPr>
          <p:cNvPr id="5" name="surrounding_title_1">
            <a:extLst>
              <a:ext uri="{FF2B5EF4-FFF2-40B4-BE49-F238E27FC236}">
                <a16:creationId xmlns:a16="http://schemas.microsoft.com/office/drawing/2014/main" id="{10198B18-7BB1-C394-BEE1-52B9ACD110C5}"/>
              </a:ext>
            </a:extLst>
          </p:cNvPr>
          <p:cNvSpPr txBox="1"/>
          <p:nvPr/>
        </p:nvSpPr>
        <p:spPr>
          <a:xfrm>
            <a:off x="7837605" y="3520066"/>
            <a:ext cx="1035540" cy="12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86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ХХХ</a:t>
            </a:r>
            <a:endParaRPr sz="714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0;p2">
            <a:extLst>
              <a:ext uri="{FF2B5EF4-FFF2-40B4-BE49-F238E27FC236}">
                <a16:creationId xmlns:a16="http://schemas.microsoft.com/office/drawing/2014/main" id="{37DD7E86-00DF-3EAD-39DE-9AA25702F1BC}"/>
              </a:ext>
            </a:extLst>
          </p:cNvPr>
          <p:cNvSpPr/>
          <p:nvPr/>
        </p:nvSpPr>
        <p:spPr>
          <a:xfrm>
            <a:off x="514150" y="1493476"/>
            <a:ext cx="1202700" cy="598500"/>
          </a:xfrm>
          <a:prstGeom prst="roundRect">
            <a:avLst>
              <a:gd name="adj" fmla="val 4594"/>
            </a:avLst>
          </a:prstGeom>
          <a:noFill/>
          <a:ln w="2540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3;p2">
            <a:extLst>
              <a:ext uri="{FF2B5EF4-FFF2-40B4-BE49-F238E27FC236}">
                <a16:creationId xmlns:a16="http://schemas.microsoft.com/office/drawing/2014/main" id="{79A4EC58-6362-3658-F283-7E52C184BC9E}"/>
              </a:ext>
            </a:extLst>
          </p:cNvPr>
          <p:cNvSpPr txBox="1"/>
          <p:nvPr/>
        </p:nvSpPr>
        <p:spPr>
          <a:xfrm>
            <a:off x="3687350" y="1559470"/>
            <a:ext cx="2046300" cy="2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94;p2">
            <a:extLst>
              <a:ext uri="{FF2B5EF4-FFF2-40B4-BE49-F238E27FC236}">
                <a16:creationId xmlns:a16="http://schemas.microsoft.com/office/drawing/2014/main" id="{6FF59A0D-4E06-AE2B-36E1-61762363F5B9}"/>
              </a:ext>
            </a:extLst>
          </p:cNvPr>
          <p:cNvSpPr/>
          <p:nvPr/>
        </p:nvSpPr>
        <p:spPr>
          <a:xfrm>
            <a:off x="641063" y="1389746"/>
            <a:ext cx="2177100" cy="205800"/>
          </a:xfrm>
          <a:prstGeom prst="roundRect">
            <a:avLst>
              <a:gd name="adj" fmla="val 14082"/>
            </a:avLst>
          </a:prstGeom>
          <a:solidFill>
            <a:srgbClr val="009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12;p2">
            <a:extLst>
              <a:ext uri="{FF2B5EF4-FFF2-40B4-BE49-F238E27FC236}">
                <a16:creationId xmlns:a16="http://schemas.microsoft.com/office/drawing/2014/main" id="{62F591E4-1604-6018-A609-C4ABF5903E1F}"/>
              </a:ext>
            </a:extLst>
          </p:cNvPr>
          <p:cNvSpPr/>
          <p:nvPr/>
        </p:nvSpPr>
        <p:spPr>
          <a:xfrm>
            <a:off x="2160159" y="1493476"/>
            <a:ext cx="1202700" cy="598500"/>
          </a:xfrm>
          <a:prstGeom prst="roundRect">
            <a:avLst>
              <a:gd name="adj" fmla="val 4594"/>
            </a:avLst>
          </a:prstGeom>
          <a:noFill/>
          <a:ln w="2540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14;p2">
            <a:extLst>
              <a:ext uri="{FF2B5EF4-FFF2-40B4-BE49-F238E27FC236}">
                <a16:creationId xmlns:a16="http://schemas.microsoft.com/office/drawing/2014/main" id="{D597C934-F07E-2C87-F007-EF609FDDDC86}"/>
              </a:ext>
            </a:extLst>
          </p:cNvPr>
          <p:cNvSpPr/>
          <p:nvPr/>
        </p:nvSpPr>
        <p:spPr>
          <a:xfrm>
            <a:off x="520206" y="2465101"/>
            <a:ext cx="1202700" cy="598500"/>
          </a:xfrm>
          <a:prstGeom prst="roundRect">
            <a:avLst>
              <a:gd name="adj" fmla="val 4594"/>
            </a:avLst>
          </a:prstGeom>
          <a:noFill/>
          <a:ln w="2540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15;p2">
            <a:extLst>
              <a:ext uri="{FF2B5EF4-FFF2-40B4-BE49-F238E27FC236}">
                <a16:creationId xmlns:a16="http://schemas.microsoft.com/office/drawing/2014/main" id="{45488C90-151D-32E9-10DC-0A0F122B9B86}"/>
              </a:ext>
            </a:extLst>
          </p:cNvPr>
          <p:cNvSpPr/>
          <p:nvPr/>
        </p:nvSpPr>
        <p:spPr>
          <a:xfrm>
            <a:off x="2166215" y="2465101"/>
            <a:ext cx="1202700" cy="598500"/>
          </a:xfrm>
          <a:prstGeom prst="roundRect">
            <a:avLst>
              <a:gd name="adj" fmla="val 4594"/>
            </a:avLst>
          </a:prstGeom>
          <a:noFill/>
          <a:ln w="2540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16;p2">
            <a:extLst>
              <a:ext uri="{FF2B5EF4-FFF2-40B4-BE49-F238E27FC236}">
                <a16:creationId xmlns:a16="http://schemas.microsoft.com/office/drawing/2014/main" id="{E003B0D1-A36E-8095-68E1-C1EC657EF092}"/>
              </a:ext>
            </a:extLst>
          </p:cNvPr>
          <p:cNvSpPr/>
          <p:nvPr/>
        </p:nvSpPr>
        <p:spPr>
          <a:xfrm>
            <a:off x="493725" y="4163315"/>
            <a:ext cx="2927400" cy="1988700"/>
          </a:xfrm>
          <a:prstGeom prst="roundRect">
            <a:avLst>
              <a:gd name="adj" fmla="val 4594"/>
            </a:avLst>
          </a:prstGeom>
          <a:noFill/>
          <a:ln w="2540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17;p2">
            <a:extLst>
              <a:ext uri="{FF2B5EF4-FFF2-40B4-BE49-F238E27FC236}">
                <a16:creationId xmlns:a16="http://schemas.microsoft.com/office/drawing/2014/main" id="{615750F2-832D-E6E9-01EF-4AA641673642}"/>
              </a:ext>
            </a:extLst>
          </p:cNvPr>
          <p:cNvSpPr txBox="1"/>
          <p:nvPr/>
        </p:nvSpPr>
        <p:spPr>
          <a:xfrm>
            <a:off x="632617" y="1358932"/>
            <a:ext cx="21816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86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ПАРАМЕТРЫ ПРОЕКТА</a:t>
            </a:r>
            <a:endParaRPr/>
          </a:p>
        </p:txBody>
      </p:sp>
      <p:sp>
        <p:nvSpPr>
          <p:cNvPr id="22" name="investments">
            <a:extLst>
              <a:ext uri="{FF2B5EF4-FFF2-40B4-BE49-F238E27FC236}">
                <a16:creationId xmlns:a16="http://schemas.microsoft.com/office/drawing/2014/main" id="{F24081A2-83FC-7EDD-99A7-2D7FCBDAF5D2}"/>
              </a:ext>
            </a:extLst>
          </p:cNvPr>
          <p:cNvSpPr txBox="1"/>
          <p:nvPr/>
        </p:nvSpPr>
        <p:spPr>
          <a:xfrm>
            <a:off x="2221056" y="2553105"/>
            <a:ext cx="585255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6" b="1" dirty="0">
                <a:solidFill>
                  <a:schemeClr val="lt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8"/>
                  </a:ext>
                </a:extLst>
              </a:rPr>
              <a:t>X</a:t>
            </a:r>
            <a:endParaRPr dirty="0"/>
          </a:p>
        </p:txBody>
      </p:sp>
      <p:sp>
        <p:nvSpPr>
          <p:cNvPr id="23" name="Google Shape;125;p2">
            <a:extLst>
              <a:ext uri="{FF2B5EF4-FFF2-40B4-BE49-F238E27FC236}">
                <a16:creationId xmlns:a16="http://schemas.microsoft.com/office/drawing/2014/main" id="{0A385F44-BAE4-0D3B-294C-35658AE88855}"/>
              </a:ext>
            </a:extLst>
          </p:cNvPr>
          <p:cNvSpPr txBox="1"/>
          <p:nvPr/>
        </p:nvSpPr>
        <p:spPr>
          <a:xfrm>
            <a:off x="2221043" y="2813783"/>
            <a:ext cx="12573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71" dirty="0">
                <a:solidFill>
                  <a:schemeClr val="lt1"/>
                </a:solidFill>
              </a:rPr>
              <a:t>инвестиции</a:t>
            </a:r>
            <a:endParaRPr dirty="0"/>
          </a:p>
        </p:txBody>
      </p:sp>
      <p:sp>
        <p:nvSpPr>
          <p:cNvPr id="27" name="Google Shape;129;p2">
            <a:extLst>
              <a:ext uri="{FF2B5EF4-FFF2-40B4-BE49-F238E27FC236}">
                <a16:creationId xmlns:a16="http://schemas.microsoft.com/office/drawing/2014/main" id="{00344DC5-28B2-1C2F-CEDC-29A95E0A60F1}"/>
              </a:ext>
            </a:extLst>
          </p:cNvPr>
          <p:cNvSpPr txBox="1"/>
          <p:nvPr/>
        </p:nvSpPr>
        <p:spPr>
          <a:xfrm>
            <a:off x="588630" y="4229409"/>
            <a:ext cx="12573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71" dirty="0">
                <a:solidFill>
                  <a:schemeClr val="lt1"/>
                </a:solidFill>
              </a:rPr>
              <a:t>Характеристики проекта</a:t>
            </a:r>
            <a:endParaRPr lang="ru-RU" sz="800" dirty="0"/>
          </a:p>
        </p:txBody>
      </p:sp>
      <p:sp>
        <p:nvSpPr>
          <p:cNvPr id="28" name="year_entered">
            <a:extLst>
              <a:ext uri="{FF2B5EF4-FFF2-40B4-BE49-F238E27FC236}">
                <a16:creationId xmlns:a16="http://schemas.microsoft.com/office/drawing/2014/main" id="{6A84250E-272B-9912-93FC-AF44E8F01121}"/>
              </a:ext>
            </a:extLst>
          </p:cNvPr>
          <p:cNvSpPr txBox="1"/>
          <p:nvPr/>
        </p:nvSpPr>
        <p:spPr>
          <a:xfrm>
            <a:off x="632629" y="2559427"/>
            <a:ext cx="1057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86" b="1" dirty="0">
                <a:solidFill>
                  <a:schemeClr val="lt1"/>
                </a:solidFill>
              </a:rPr>
              <a:t>ХХХХ</a:t>
            </a:r>
            <a:endParaRPr dirty="0"/>
          </a:p>
        </p:txBody>
      </p:sp>
      <p:sp>
        <p:nvSpPr>
          <p:cNvPr id="29" name="Google Shape;135;p2">
            <a:extLst>
              <a:ext uri="{FF2B5EF4-FFF2-40B4-BE49-F238E27FC236}">
                <a16:creationId xmlns:a16="http://schemas.microsoft.com/office/drawing/2014/main" id="{A4895108-E812-B840-DBA5-93AAF064EFA7}"/>
              </a:ext>
            </a:extLst>
          </p:cNvPr>
          <p:cNvSpPr txBox="1"/>
          <p:nvPr/>
        </p:nvSpPr>
        <p:spPr>
          <a:xfrm>
            <a:off x="632617" y="2792809"/>
            <a:ext cx="12573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71">
                <a:solidFill>
                  <a:schemeClr val="lt1"/>
                </a:solidFill>
              </a:rPr>
              <a:t>год ввода</a:t>
            </a:r>
            <a:endParaRPr/>
          </a:p>
        </p:txBody>
      </p:sp>
      <p:sp>
        <p:nvSpPr>
          <p:cNvPr id="32" name="Google Shape;138;p2">
            <a:extLst>
              <a:ext uri="{FF2B5EF4-FFF2-40B4-BE49-F238E27FC236}">
                <a16:creationId xmlns:a16="http://schemas.microsoft.com/office/drawing/2014/main" id="{4F8F7151-1DF8-FB23-3258-BD95AAFEE4CA}"/>
              </a:ext>
            </a:extLst>
          </p:cNvPr>
          <p:cNvSpPr/>
          <p:nvPr/>
        </p:nvSpPr>
        <p:spPr>
          <a:xfrm>
            <a:off x="3983113" y="1493476"/>
            <a:ext cx="2927400" cy="1988700"/>
          </a:xfrm>
          <a:prstGeom prst="roundRect">
            <a:avLst>
              <a:gd name="adj" fmla="val 4594"/>
            </a:avLst>
          </a:prstGeom>
          <a:noFill/>
          <a:ln w="2540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ProjectDescription">
            <a:extLst>
              <a:ext uri="{FF2B5EF4-FFF2-40B4-BE49-F238E27FC236}">
                <a16:creationId xmlns:a16="http://schemas.microsoft.com/office/drawing/2014/main" id="{DCD990F4-2E0E-B79B-BA9C-44CCF7321CEB}"/>
              </a:ext>
            </a:extLst>
          </p:cNvPr>
          <p:cNvSpPr txBox="1"/>
          <p:nvPr/>
        </p:nvSpPr>
        <p:spPr>
          <a:xfrm>
            <a:off x="514151" y="945626"/>
            <a:ext cx="1754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1" dirty="0">
                <a:solidFill>
                  <a:schemeClr val="lt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Описание проекта</a:t>
            </a:r>
            <a:endParaRPr sz="87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23;p2">
            <a:extLst>
              <a:ext uri="{FF2B5EF4-FFF2-40B4-BE49-F238E27FC236}">
                <a16:creationId xmlns:a16="http://schemas.microsoft.com/office/drawing/2014/main" id="{A8804649-716C-2E70-5998-B0B5792085E5}"/>
              </a:ext>
            </a:extLst>
          </p:cNvPr>
          <p:cNvSpPr txBox="1"/>
          <p:nvPr/>
        </p:nvSpPr>
        <p:spPr>
          <a:xfrm>
            <a:off x="654411" y="1879956"/>
            <a:ext cx="12573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71" dirty="0">
                <a:solidFill>
                  <a:schemeClr val="lt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5"/>
                  </a:ext>
                </a:extLst>
              </a:rPr>
              <a:t>СПП проекта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973B0D-2860-C57B-48DA-95F5E7CA5178}"/>
              </a:ext>
            </a:extLst>
          </p:cNvPr>
          <p:cNvSpPr txBox="1"/>
          <p:nvPr/>
        </p:nvSpPr>
        <p:spPr>
          <a:xfrm>
            <a:off x="2792689" y="1692338"/>
            <a:ext cx="482052" cy="224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7" b="1" dirty="0">
                <a:solidFill>
                  <a:schemeClr val="lt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2"/>
                  </a:ext>
                </a:extLst>
              </a:rPr>
              <a:t>га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5F2D6A-79C3-B9EF-28D4-EE113C19B1DE}"/>
              </a:ext>
            </a:extLst>
          </p:cNvPr>
          <p:cNvSpPr txBox="1"/>
          <p:nvPr/>
        </p:nvSpPr>
        <p:spPr>
          <a:xfrm>
            <a:off x="2723374" y="2589554"/>
            <a:ext cx="810751" cy="224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57" b="1" dirty="0">
                <a:solidFill>
                  <a:schemeClr val="lt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9"/>
                  </a:ext>
                </a:extLst>
              </a:rPr>
              <a:t>млрд</a:t>
            </a:r>
          </a:p>
        </p:txBody>
      </p:sp>
      <p:sp>
        <p:nvSpPr>
          <p:cNvPr id="45" name="Google Shape;118;p2">
            <a:extLst>
              <a:ext uri="{FF2B5EF4-FFF2-40B4-BE49-F238E27FC236}">
                <a16:creationId xmlns:a16="http://schemas.microsoft.com/office/drawing/2014/main" id="{A23BD0CC-E2BA-2D25-8DFC-56342099BFC0}"/>
              </a:ext>
            </a:extLst>
          </p:cNvPr>
          <p:cNvSpPr/>
          <p:nvPr/>
        </p:nvSpPr>
        <p:spPr>
          <a:xfrm>
            <a:off x="7309475" y="5979449"/>
            <a:ext cx="4056600" cy="257400"/>
          </a:xfrm>
          <a:prstGeom prst="roundRect">
            <a:avLst>
              <a:gd name="adj" fmla="val 4594"/>
            </a:avLst>
          </a:prstGeom>
          <a:noFill/>
          <a:ln w="25400" cap="flat" cmpd="sng">
            <a:solidFill>
              <a:srgbClr val="0096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project_render_filename">
            <a:extLst>
              <a:ext uri="{FF2B5EF4-FFF2-40B4-BE49-F238E27FC236}">
                <a16:creationId xmlns:a16="http://schemas.microsoft.com/office/drawing/2014/main" id="{ECA11FEF-19A3-99BC-675F-C7D84628AB7D}"/>
              </a:ext>
            </a:extLst>
          </p:cNvPr>
          <p:cNvSpPr txBox="1"/>
          <p:nvPr/>
        </p:nvSpPr>
        <p:spPr>
          <a:xfrm>
            <a:off x="7386130" y="6017995"/>
            <a:ext cx="3902562" cy="18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71" dirty="0">
                <a:solidFill>
                  <a:schemeClr val="lt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4"/>
                  </a:ext>
                </a:extLst>
              </a:rPr>
              <a:t>Ссылка на рендеры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50</Words>
  <Application>Microsoft Office PowerPoint</Application>
  <PresentationFormat>Широкоэкранный</PresentationFormat>
  <Paragraphs>26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Тема Office</vt:lpstr>
      <vt:lpstr>Состав проекта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Сергеев Владислав Юрьевич</dc:creator>
  <cp:lastModifiedBy>PC</cp:lastModifiedBy>
  <cp:revision>50</cp:revision>
  <dcterms:created xsi:type="dcterms:W3CDTF">2025-07-31T07:21:50Z</dcterms:created>
  <dcterms:modified xsi:type="dcterms:W3CDTF">2026-04-20T11:57:53Z</dcterms:modified>
</cp:coreProperties>
</file>