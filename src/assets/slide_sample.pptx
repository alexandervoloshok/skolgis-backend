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2">
          <p15:clr>
            <a:srgbClr val="F26B43"/>
          </p15:clr>
        </p15:guide>
        <p15:guide id="2" pos="257">
          <p15:clr>
            <a:srgbClr val="F26B43"/>
          </p15:clr>
        </p15:guide>
        <p15:guide id="3" orient="horz" pos="4088">
          <p15:clr>
            <a:srgbClr val="F26B43"/>
          </p15:clr>
        </p15:guide>
        <p15:guide id="4" pos="7423">
          <p15:clr>
            <a:srgbClr val="F26B43"/>
          </p15:clr>
        </p15:guide>
        <p15:guide id="5" pos="3840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" roundtripDataSignature="AMtx7mj+3mxE5o7GXHaj57Ss1rmUYwTV0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Юлия Родикова" initials="" lastIdx="4" clrIdx="0"/>
  <p:cmAuthor id="1" name="PC" initials="P" lastIdx="1" clrIdx="1">
    <p:extLst>
      <p:ext uri="{19B8F6BF-5375-455C-9EA6-DF929625EA0E}">
        <p15:presenceInfo xmlns:p15="http://schemas.microsoft.com/office/powerpoint/2012/main" userId="PC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06" y="72"/>
      </p:cViewPr>
      <p:guideLst>
        <p:guide orient="horz" pos="232"/>
        <p:guide pos="257"/>
        <p:guide orient="horz" pos="4088"/>
        <p:guide pos="7423"/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6-01-11T13:48:46.459" idx="2">
    <p:pos x="257" y="232"/>
    <p:text>Столбец Название объекта</p:text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commentPostId="AAAByePcYt0"/>
      </p:ext>
    </p:extLst>
  </p:cm>
  <p:cm authorId="0" dt="2026-01-11T13:51:28.435" idx="4">
    <p:pos x="398" y="1615"/>
    <p:text>Столбец Площадь ОКС</p:text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commentPostId="AAAByePcYt4"/>
      </p:ext>
    </p:extLst>
  </p:cm>
  <p:cm authorId="0" dt="2026-01-11T13:52:12.853" idx="3">
    <p:pos x="398" y="1515"/>
    <p:text>Столбец Площадь ЗУ</p:text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commentPostId="AAAByePcet0"/>
      </p:ext>
    </p:extLst>
  </p:cm>
  <p:cm authorId="0" dt="2026-01-11T13:52:50.083" idx="1">
    <p:pos x="447" y="1990"/>
    <p:text>Столбец Год ввода в эксплуатацию</p:text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commentPostId="AAAByePcet4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45B6C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omments" Target="../comments/comment1.xm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382E5E-129E-CD0C-F7A7-DE84F599B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2184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MapImage"/>
          <p:cNvPicPr preferRelativeResize="0"/>
          <p:nvPr/>
        </p:nvPicPr>
        <p:blipFill rotWithShape="1">
          <a:blip r:embed="rId3">
            <a:alphaModFix/>
          </a:blip>
          <a:srcRect b="8323"/>
          <a:stretch/>
        </p:blipFill>
        <p:spPr>
          <a:xfrm>
            <a:off x="7324420" y="2166084"/>
            <a:ext cx="4056654" cy="4348335"/>
          </a:xfrm>
          <a:prstGeom prst="roundRect">
            <a:avLst>
              <a:gd name="adj" fmla="val 2579"/>
            </a:avLst>
          </a:prstGeom>
          <a:noFill/>
          <a:ln>
            <a:noFill/>
          </a:ln>
        </p:spPr>
      </p:pic>
      <p:sp>
        <p:nvSpPr>
          <p:cNvPr id="89" name="Google Shape;89;p2"/>
          <p:cNvSpPr txBox="1">
            <a:spLocks noGrp="1"/>
          </p:cNvSpPr>
          <p:nvPr>
            <p:ph type="sldNum" idx="12"/>
          </p:nvPr>
        </p:nvSpPr>
        <p:spPr>
          <a:xfrm>
            <a:off x="11288692" y="6476750"/>
            <a:ext cx="184764" cy="25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0" name="Google Shape;90;p2"/>
          <p:cNvSpPr txBox="1">
            <a:spLocks noGrp="1"/>
          </p:cNvSpPr>
          <p:nvPr>
            <p:ph type="title"/>
          </p:nvPr>
        </p:nvSpPr>
        <p:spPr>
          <a:xfrm>
            <a:off x="432210" y="1031160"/>
            <a:ext cx="11197253" cy="373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</a:pPr>
            <a:r>
              <a:rPr lang="ru-RU" sz="12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XX</a:t>
            </a:r>
            <a:br>
              <a:rPr lang="ru-RU" sz="16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sz="1600" b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2"/>
          <p:cNvSpPr/>
          <p:nvPr/>
        </p:nvSpPr>
        <p:spPr>
          <a:xfrm rot="5400000" flipH="1">
            <a:off x="3416835" y="-1677666"/>
            <a:ext cx="45719" cy="5871387"/>
          </a:xfrm>
          <a:prstGeom prst="roundRect">
            <a:avLst>
              <a:gd name="adj" fmla="val 50000"/>
            </a:avLst>
          </a:prstGeom>
          <a:solidFill>
            <a:srgbClr val="009640"/>
          </a:solidFill>
          <a:ln w="127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"/>
          <p:cNvSpPr/>
          <p:nvPr/>
        </p:nvSpPr>
        <p:spPr>
          <a:xfrm>
            <a:off x="514149" y="2218768"/>
            <a:ext cx="5871300" cy="17712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"/>
          <p:cNvSpPr txBox="1"/>
          <p:nvPr/>
        </p:nvSpPr>
        <p:spPr>
          <a:xfrm>
            <a:off x="710173" y="2752855"/>
            <a:ext cx="1375500" cy="3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0,5</a:t>
            </a:r>
            <a:r>
              <a:rPr lang="ru-RU" sz="714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857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га</a:t>
            </a:r>
            <a:endParaRPr sz="857" b="1" baseline="30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площадь ЗУ</a:t>
            </a:r>
            <a:endParaRPr sz="57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632617" y="2405421"/>
            <a:ext cx="1257300" cy="3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0"/>
                  </a:ext>
                </a:extLst>
              </a:rPr>
              <a:t>15</a:t>
            </a:r>
            <a:r>
              <a:rPr lang="ru-RU" sz="75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1"/>
                  </a:ext>
                </a:extLst>
              </a:rPr>
              <a:t> </a:t>
            </a:r>
            <a:r>
              <a:rPr lang="ru-RU" sz="857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2"/>
                  </a:ext>
                </a:extLst>
              </a:rPr>
              <a:t>тыс. м</a:t>
            </a:r>
            <a:r>
              <a:rPr lang="ru-RU" sz="857" b="1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3"/>
                  </a:ext>
                </a:extLst>
              </a:rPr>
              <a:t>2</a:t>
            </a:r>
            <a:endParaRPr sz="750" b="1" baseline="300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  <a:extLst>
                <a:ext uri="http://customooxmlschemas.google.com/">
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4"/>
                </a:ext>
              </a:extLst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5"/>
                  </a:ext>
                </a:extLst>
              </a:rPr>
              <a:t>общая площадь, из которой:</a:t>
            </a:r>
            <a:endParaRPr dirty="0"/>
          </a:p>
        </p:txBody>
      </p:sp>
      <p:sp>
        <p:nvSpPr>
          <p:cNvPr id="95" name="ProjectDescription"/>
          <p:cNvSpPr txBox="1"/>
          <p:nvPr/>
        </p:nvSpPr>
        <p:spPr>
          <a:xfrm>
            <a:off x="504001" y="1302519"/>
            <a:ext cx="1264539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ОПИСАНИЕ</a:t>
            </a:r>
            <a:endParaRPr dirty="0"/>
          </a:p>
        </p:txBody>
      </p:sp>
      <p:sp>
        <p:nvSpPr>
          <p:cNvPr id="96" name="Investor"/>
          <p:cNvSpPr txBox="1"/>
          <p:nvPr/>
        </p:nvSpPr>
        <p:spPr>
          <a:xfrm>
            <a:off x="504001" y="1483271"/>
            <a:ext cx="58815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lt1"/>
                </a:solidFill>
              </a:rPr>
              <a:t>Инвестор</a:t>
            </a:r>
            <a:endParaRPr dirty="0"/>
          </a:p>
        </p:txBody>
      </p:sp>
      <p:sp>
        <p:nvSpPr>
          <p:cNvPr id="97" name="Google Shape;97;p2"/>
          <p:cNvSpPr txBox="1"/>
          <p:nvPr/>
        </p:nvSpPr>
        <p:spPr>
          <a:xfrm>
            <a:off x="710180" y="3160168"/>
            <a:ext cx="1057500" cy="3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2029 </a:t>
            </a:r>
            <a:r>
              <a:rPr lang="ru-RU" sz="857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г.</a:t>
            </a:r>
            <a:endParaRPr sz="857" b="1" baseline="300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ввод в </a:t>
            </a:r>
            <a:r>
              <a:rPr lang="ru-RU" sz="57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6"/>
                  </a:ext>
                </a:extLst>
              </a:rPr>
              <a:t>эксплуатацию</a:t>
            </a:r>
            <a:endParaRPr dirty="0"/>
          </a:p>
        </p:txBody>
      </p:sp>
      <p:sp>
        <p:nvSpPr>
          <p:cNvPr id="98" name="Google Shape;98;p2"/>
          <p:cNvSpPr txBox="1"/>
          <p:nvPr/>
        </p:nvSpPr>
        <p:spPr>
          <a:xfrm>
            <a:off x="717948" y="3549690"/>
            <a:ext cx="1491000" cy="3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350 </a:t>
            </a:r>
            <a:r>
              <a:rPr lang="ru-RU" sz="857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раб. мест</a:t>
            </a:r>
            <a:r>
              <a:rPr lang="ru-RU" sz="857" b="1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br>
              <a:rPr lang="ru-RU" sz="750" b="1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57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будет создано </a:t>
            </a:r>
            <a:endParaRPr dirty="0"/>
          </a:p>
        </p:txBody>
      </p:sp>
      <p:pic>
        <p:nvPicPr>
          <p:cNvPr id="99" name="Google Shape;99;p2" descr="Символика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72768" y="1025639"/>
            <a:ext cx="2314562" cy="66513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"/>
          <p:cNvSpPr txBox="1"/>
          <p:nvPr/>
        </p:nvSpPr>
        <p:spPr>
          <a:xfrm>
            <a:off x="1169891" y="2947656"/>
            <a:ext cx="1375500" cy="1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(77:15:0020321:183)</a:t>
            </a:r>
            <a:endParaRPr dirty="0"/>
          </a:p>
        </p:txBody>
      </p:sp>
      <p:sp>
        <p:nvSpPr>
          <p:cNvPr id="101" name="Google Shape;101;p2"/>
          <p:cNvSpPr txBox="1"/>
          <p:nvPr/>
        </p:nvSpPr>
        <p:spPr>
          <a:xfrm>
            <a:off x="3689421" y="3683444"/>
            <a:ext cx="1883100" cy="3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714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 </a:t>
            </a:r>
            <a:r>
              <a:rPr lang="ru-RU" sz="714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Архитектурная концепция находится</a:t>
            </a:r>
            <a:br>
              <a:rPr lang="ru-RU" sz="714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714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в стадии разработки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3687350" y="2284769"/>
            <a:ext cx="2046300" cy="22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Пример визуализации*</a:t>
            </a:r>
            <a:endParaRPr sz="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Google Shape;103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93091" y="2517927"/>
            <a:ext cx="1915650" cy="1150200"/>
          </a:xfrm>
          <a:custGeom>
            <a:avLst/>
            <a:gdLst/>
            <a:ahLst/>
            <a:cxnLst/>
            <a:rect l="l" t="t" r="r" b="b"/>
            <a:pathLst>
              <a:path w="3564000" h="2160000" extrusionOk="0">
                <a:moveTo>
                  <a:pt x="182844" y="0"/>
                </a:moveTo>
                <a:lnTo>
                  <a:pt x="3381156" y="0"/>
                </a:lnTo>
                <a:cubicBezTo>
                  <a:pt x="3482138" y="0"/>
                  <a:pt x="3564000" y="81862"/>
                  <a:pt x="3564000" y="182844"/>
                </a:cubicBezTo>
                <a:lnTo>
                  <a:pt x="3564000" y="1977156"/>
                </a:lnTo>
                <a:cubicBezTo>
                  <a:pt x="3564000" y="2078138"/>
                  <a:pt x="3482138" y="2160000"/>
                  <a:pt x="3381156" y="2160000"/>
                </a:cubicBezTo>
                <a:lnTo>
                  <a:pt x="182844" y="2160000"/>
                </a:lnTo>
                <a:cubicBezTo>
                  <a:pt x="81862" y="2160000"/>
                  <a:pt x="0" y="2078138"/>
                  <a:pt x="0" y="1977156"/>
                </a:cubicBezTo>
                <a:lnTo>
                  <a:pt x="0" y="182844"/>
                </a:lnTo>
                <a:cubicBezTo>
                  <a:pt x="0" y="81862"/>
                  <a:pt x="81862" y="0"/>
                  <a:pt x="182844" y="0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104" name="Google Shape;104;p2"/>
          <p:cNvSpPr/>
          <p:nvPr/>
        </p:nvSpPr>
        <p:spPr>
          <a:xfrm>
            <a:off x="641063" y="2115045"/>
            <a:ext cx="2177100" cy="205800"/>
          </a:xfrm>
          <a:prstGeom prst="roundRect">
            <a:avLst>
              <a:gd name="adj" fmla="val 14082"/>
            </a:avLst>
          </a:prstGeom>
          <a:solidFill>
            <a:srgbClr val="0096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632617" y="2084231"/>
            <a:ext cx="21816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ПАРАМЕТРЫ ПРОЕКТА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9544712" y="6104701"/>
            <a:ext cx="1701848" cy="237274"/>
          </a:xfrm>
          <a:prstGeom prst="roundRect">
            <a:avLst>
              <a:gd name="adj" fmla="val 48146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9933361" y="6158422"/>
            <a:ext cx="1142942" cy="131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Запрашиваемый ЗУ</a:t>
            </a:r>
            <a:endParaRPr sz="714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9676535" y="6159052"/>
            <a:ext cx="128571" cy="128571"/>
          </a:xfrm>
          <a:prstGeom prst="roundRect">
            <a:avLst>
              <a:gd name="adj" fmla="val 16667"/>
            </a:avLst>
          </a:prstGeom>
          <a:solidFill>
            <a:srgbClr val="009640">
              <a:alpha val="49803"/>
            </a:srgbClr>
          </a:solidFill>
          <a:ln w="127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" name="Google Shape;109;p2"/>
          <p:cNvCxnSpPr>
            <a:stCxn id="110" idx="1"/>
          </p:cNvCxnSpPr>
          <p:nvPr/>
        </p:nvCxnSpPr>
        <p:spPr>
          <a:xfrm rot="10800000" flipH="1">
            <a:off x="8604888" y="5732362"/>
            <a:ext cx="965100" cy="1119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11" name="Google Shape;111;p2"/>
          <p:cNvCxnSpPr/>
          <p:nvPr/>
        </p:nvCxnSpPr>
        <p:spPr>
          <a:xfrm rot="5400000">
            <a:off x="7909773" y="4493066"/>
            <a:ext cx="1911300" cy="444000"/>
          </a:xfrm>
          <a:prstGeom prst="bentConnector3">
            <a:avLst>
              <a:gd name="adj1" fmla="val 49997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2" name="Google Shape;112;p2"/>
          <p:cNvSpPr/>
          <p:nvPr/>
        </p:nvSpPr>
        <p:spPr>
          <a:xfrm>
            <a:off x="7453150" y="3867882"/>
            <a:ext cx="1575259" cy="316493"/>
          </a:xfrm>
          <a:prstGeom prst="roundRect">
            <a:avLst>
              <a:gd name="adj" fmla="val 28082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7832193" y="3882493"/>
            <a:ext cx="1035540" cy="252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Окружение</a:t>
            </a:r>
            <a:r>
              <a:rPr lang="ru-RU" sz="714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br>
              <a:rPr lang="ru-RU" sz="714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786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Квартал Менделеева</a:t>
            </a:r>
            <a:endParaRPr sz="714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7574972" y="3906075"/>
            <a:ext cx="128571" cy="128571"/>
          </a:xfrm>
          <a:prstGeom prst="roundRect">
            <a:avLst>
              <a:gd name="adj" fmla="val 16667"/>
            </a:avLst>
          </a:prstGeom>
          <a:solidFill>
            <a:srgbClr val="7F7F7F">
              <a:alpha val="49803"/>
            </a:srgbClr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7309460" y="2166084"/>
            <a:ext cx="4081761" cy="4348336"/>
          </a:xfrm>
          <a:prstGeom prst="roundRect">
            <a:avLst>
              <a:gd name="adj" fmla="val 2594"/>
            </a:avLst>
          </a:prstGeom>
          <a:noFill/>
          <a:ln w="1905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7451488" y="2002909"/>
            <a:ext cx="2537551" cy="202701"/>
          </a:xfrm>
          <a:prstGeom prst="roundRect">
            <a:avLst>
              <a:gd name="adj" fmla="val 14082"/>
            </a:avLst>
          </a:prstGeom>
          <a:solidFill>
            <a:srgbClr val="0096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7451488" y="1961914"/>
            <a:ext cx="2832489" cy="290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РАСПОЛОЖЕНИЕ ПРОЕКТА</a:t>
            </a:r>
            <a:endParaRPr/>
          </a:p>
        </p:txBody>
      </p:sp>
      <p:sp>
        <p:nvSpPr>
          <p:cNvPr id="118" name="Google Shape;118;p2"/>
          <p:cNvSpPr/>
          <p:nvPr/>
        </p:nvSpPr>
        <p:spPr>
          <a:xfrm>
            <a:off x="8495831" y="5610010"/>
            <a:ext cx="282349" cy="166687"/>
          </a:xfrm>
          <a:custGeom>
            <a:avLst/>
            <a:gdLst/>
            <a:ahLst/>
            <a:cxnLst/>
            <a:rect l="l" t="t" r="r" b="b"/>
            <a:pathLst>
              <a:path w="395288" h="233362" extrusionOk="0">
                <a:moveTo>
                  <a:pt x="0" y="83344"/>
                </a:moveTo>
                <a:lnTo>
                  <a:pt x="369094" y="233362"/>
                </a:lnTo>
                <a:lnTo>
                  <a:pt x="395288" y="154781"/>
                </a:lnTo>
                <a:lnTo>
                  <a:pt x="38100" y="0"/>
                </a:lnTo>
                <a:lnTo>
                  <a:pt x="0" y="83344"/>
                </a:lnTo>
                <a:close/>
              </a:path>
            </a:pathLst>
          </a:custGeom>
          <a:solidFill>
            <a:srgbClr val="7F7F7F">
              <a:alpha val="49803"/>
            </a:srgbClr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8530049" y="5733704"/>
            <a:ext cx="119063" cy="110558"/>
          </a:xfrm>
          <a:custGeom>
            <a:avLst/>
            <a:gdLst/>
            <a:ahLst/>
            <a:cxnLst/>
            <a:rect l="l" t="t" r="r" b="b"/>
            <a:pathLst>
              <a:path w="166688" h="154781" extrusionOk="0">
                <a:moveTo>
                  <a:pt x="0" y="88106"/>
                </a:moveTo>
                <a:lnTo>
                  <a:pt x="104775" y="154781"/>
                </a:lnTo>
                <a:lnTo>
                  <a:pt x="166688" y="42862"/>
                </a:lnTo>
                <a:lnTo>
                  <a:pt x="61913" y="0"/>
                </a:lnTo>
                <a:lnTo>
                  <a:pt x="0" y="88106"/>
                </a:lnTo>
                <a:close/>
              </a:path>
            </a:pathLst>
          </a:custGeom>
          <a:solidFill>
            <a:srgbClr val="009640">
              <a:alpha val="49803"/>
            </a:srgbClr>
          </a:solidFill>
          <a:ln w="127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2" descr="БЦ Инновационный центр «Технопарк-Сколково» (Квартал Менделеева, Нобеля, 5)  – аренда и продажа помещений, офисов в Бизнес Центре Инновационный центр  «Технопарк-Сколково» (Квартал Менделеева, Нобеля, 5), Москва, Сколково  инновационного центра территория ..."/>
          <p:cNvPicPr preferRelativeResize="0"/>
          <p:nvPr/>
        </p:nvPicPr>
        <p:blipFill rotWithShape="1">
          <a:blip r:embed="rId6">
            <a:alphaModFix/>
          </a:blip>
          <a:srcRect r="10819" b="5908"/>
          <a:stretch/>
        </p:blipFill>
        <p:spPr>
          <a:xfrm>
            <a:off x="7460569" y="2537170"/>
            <a:ext cx="1699928" cy="1280504"/>
          </a:xfrm>
          <a:prstGeom prst="roundRect">
            <a:avLst>
              <a:gd name="adj" fmla="val 953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0" name="Google Shape;120;p2"/>
          <p:cNvPicPr preferRelativeResize="0"/>
          <p:nvPr/>
        </p:nvPicPr>
        <p:blipFill rotWithShape="1">
          <a:blip r:embed="rId7">
            <a:alphaModFix/>
          </a:blip>
          <a:srcRect l="8768" t="12393" r="12786" b="17789"/>
          <a:stretch/>
        </p:blipFill>
        <p:spPr>
          <a:xfrm>
            <a:off x="9544712" y="4829653"/>
            <a:ext cx="1709447" cy="1273381"/>
          </a:xfrm>
          <a:prstGeom prst="roundRect">
            <a:avLst>
              <a:gd name="adj" fmla="val 9530"/>
            </a:avLst>
          </a:prstGeom>
          <a:noFill/>
          <a:ln w="19050" cap="flat" cmpd="sng">
            <a:solidFill>
              <a:srgbClr val="00964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1" name="Google Shape;121;p2"/>
          <p:cNvSpPr/>
          <p:nvPr/>
        </p:nvSpPr>
        <p:spPr>
          <a:xfrm>
            <a:off x="10285639" y="5306787"/>
            <a:ext cx="494393" cy="244929"/>
          </a:xfrm>
          <a:custGeom>
            <a:avLst/>
            <a:gdLst/>
            <a:ahLst/>
            <a:cxnLst/>
            <a:rect l="l" t="t" r="r" b="b"/>
            <a:pathLst>
              <a:path w="692150" h="342900" extrusionOk="0">
                <a:moveTo>
                  <a:pt x="38100" y="342900"/>
                </a:moveTo>
                <a:lnTo>
                  <a:pt x="692150" y="304800"/>
                </a:lnTo>
                <a:lnTo>
                  <a:pt x="584200" y="0"/>
                </a:lnTo>
                <a:lnTo>
                  <a:pt x="0" y="69850"/>
                </a:lnTo>
                <a:lnTo>
                  <a:pt x="38100" y="342900"/>
                </a:lnTo>
                <a:close/>
              </a:path>
            </a:pathLst>
          </a:custGeom>
          <a:solidFill>
            <a:srgbClr val="C4BEF8">
              <a:alpha val="49803"/>
            </a:srgbClr>
          </a:solidFill>
          <a:ln w="19050" cap="flat" cmpd="sng">
            <a:solidFill>
              <a:srgbClr val="7165ED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ProjectName"/>
          <p:cNvSpPr txBox="1"/>
          <p:nvPr/>
        </p:nvSpPr>
        <p:spPr>
          <a:xfrm>
            <a:off x="407988" y="368300"/>
            <a:ext cx="11376025" cy="41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lang="ru-RU" sz="2400" b="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7"/>
                  </a:ext>
                </a:extLst>
              </a:rPr>
              <a:t>НАЗВАНИЕ ОБЪЕКТА</a:t>
            </a:r>
            <a:endParaRPr sz="24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</Words>
  <Application>Microsoft Office PowerPoint</Application>
  <PresentationFormat>Широкоэкранный</PresentationFormat>
  <Paragraphs>19</Paragraphs>
  <Slides>2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5" baseType="lpstr">
      <vt:lpstr>Arial</vt:lpstr>
      <vt:lpstr>Calibri</vt:lpstr>
      <vt:lpstr>Тема Office</vt:lpstr>
      <vt:lpstr>Презентация PowerPoint</vt:lpstr>
      <vt:lpstr>XX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Сергеев Владислав Юрьевич</dc:creator>
  <cp:lastModifiedBy>PC</cp:lastModifiedBy>
  <cp:revision>4</cp:revision>
  <dcterms:created xsi:type="dcterms:W3CDTF">2025-07-31T07:21:50Z</dcterms:created>
  <dcterms:modified xsi:type="dcterms:W3CDTF">2026-01-23T13:36:06Z</dcterms:modified>
</cp:coreProperties>
</file>