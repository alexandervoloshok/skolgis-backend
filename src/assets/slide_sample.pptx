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4" r:id="rId2"/>
    <p:sldId id="265" r:id="rId3"/>
  </p:sldIdLst>
  <p:sldSz cx="12801600" cy="9601200" type="A3"/>
  <p:notesSz cx="12801600" cy="96012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032">
          <p15:clr>
            <a:srgbClr val="A4A3A4"/>
          </p15:clr>
        </p15:guide>
        <p15:guide id="2" orient="horz" pos="42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51" autoAdjust="0"/>
    <p:restoredTop sz="94660"/>
  </p:normalViewPr>
  <p:slideViewPr>
    <p:cSldViewPr>
      <p:cViewPr varScale="1">
        <p:scale>
          <a:sx n="82" d="100"/>
          <a:sy n="82" d="100"/>
        </p:scale>
        <p:origin x="2026" y="86"/>
      </p:cViewPr>
      <p:guideLst>
        <p:guide pos="4032"/>
        <p:guide orient="horz" pos="427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180000" cy="18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725170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6F82C-2800-4F38-867D-D9F77A2E4DDD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402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79525" y="4621213"/>
            <a:ext cx="10242550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725170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5084D-500F-4700-8413-8B04A554C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6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646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915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Обложк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/>
          <a:srcRect l="5653" r="20442" b="1097"/>
          <a:stretch/>
        </p:blipFill>
        <p:spPr bwMode="auto">
          <a:xfrm>
            <a:off x="-2" y="0"/>
            <a:ext cx="12801600" cy="9601201"/>
          </a:xfrm>
          <a:custGeom>
            <a:avLst/>
            <a:gdLst>
              <a:gd name="connsiteX0" fmla="*/ 0 w 12801600"/>
              <a:gd name="connsiteY0" fmla="*/ 0 h 9601201"/>
              <a:gd name="connsiteX1" fmla="*/ 12801600 w 12801600"/>
              <a:gd name="connsiteY1" fmla="*/ 0 h 9601201"/>
              <a:gd name="connsiteX2" fmla="*/ 12801600 w 12801600"/>
              <a:gd name="connsiteY2" fmla="*/ 9601201 h 9601201"/>
              <a:gd name="connsiteX3" fmla="*/ 0 w 12801600"/>
              <a:gd name="connsiteY3" fmla="*/ 9601201 h 9601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01600" h="9601201" extrusionOk="0">
                <a:moveTo>
                  <a:pt x="0" y="0"/>
                </a:moveTo>
                <a:lnTo>
                  <a:pt x="12801600" y="0"/>
                </a:lnTo>
                <a:lnTo>
                  <a:pt x="12801600" y="9601201"/>
                </a:lnTo>
                <a:lnTo>
                  <a:pt x="0" y="9601201"/>
                </a:lnTo>
                <a:close/>
              </a:path>
            </a:pathLst>
          </a:custGeom>
        </p:spPr>
      </p:pic>
      <p:sp>
        <p:nvSpPr>
          <p:cNvPr id="10" name="Прямоугольник 9"/>
          <p:cNvSpPr/>
          <p:nvPr userDrawn="1"/>
        </p:nvSpPr>
        <p:spPr bwMode="auto">
          <a:xfrm>
            <a:off x="-1" y="0"/>
            <a:ext cx="12801600" cy="9601200"/>
          </a:xfrm>
          <a:prstGeom prst="rect">
            <a:avLst/>
          </a:prstGeom>
          <a:gradFill>
            <a:gsLst>
              <a:gs pos="13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US"/>
          </a:p>
        </p:txBody>
      </p:sp>
      <p:sp>
        <p:nvSpPr>
          <p:cNvPr id="7" name="Объект 2"/>
          <p:cNvSpPr>
            <a:spLocks noGrp="1"/>
          </p:cNvSpPr>
          <p:nvPr>
            <p:ph sz="quarter" idx="11" hasCustomPrompt="1"/>
          </p:nvPr>
        </p:nvSpPr>
        <p:spPr bwMode="auto">
          <a:xfrm>
            <a:off x="1257300" y="6060600"/>
            <a:ext cx="2646878" cy="661720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  <p:sp>
        <p:nvSpPr>
          <p:cNvPr id="8" name="Объект 2"/>
          <p:cNvSpPr>
            <a:spLocks noGrp="1"/>
          </p:cNvSpPr>
          <p:nvPr>
            <p:ph sz="quarter" idx="10" hasCustomPrompt="1"/>
          </p:nvPr>
        </p:nvSpPr>
        <p:spPr bwMode="auto">
          <a:xfrm>
            <a:off x="1257300" y="6741523"/>
            <a:ext cx="3938899" cy="861005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tx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Только заголовок+Цв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bg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1280160">
        <a:lnSpc>
          <a:spcPct val="90000"/>
        </a:lnSpc>
        <a:spcBef>
          <a:spcPts val="0"/>
        </a:spcBef>
        <a:buNone/>
        <a:defRPr sz="61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>
        <a:lnSpc>
          <a:spcPct val="90000"/>
        </a:lnSpc>
        <a:spcBef>
          <a:spcPts val="1400"/>
        </a:spcBef>
        <a:buFont typeface="Arial"/>
        <a:buChar char="•"/>
        <a:defRPr sz="39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335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4160519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327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26">
            <a:extLst>
              <a:ext uri="{FF2B5EF4-FFF2-40B4-BE49-F238E27FC236}">
                <a16:creationId xmlns:a16="http://schemas.microsoft.com/office/drawing/2014/main" id="{391EBEB8-BA75-4C9A-A1AA-F2C5BDF23629}"/>
              </a:ext>
            </a:extLst>
          </p:cNvPr>
          <p:cNvSpPr/>
          <p:nvPr/>
        </p:nvSpPr>
        <p:spPr bwMode="auto">
          <a:xfrm>
            <a:off x="387895" y="4276495"/>
            <a:ext cx="6216937" cy="2137516"/>
          </a:xfrm>
          <a:prstGeom prst="roundRect">
            <a:avLst>
              <a:gd name="adj" fmla="val 3922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AEBEEEE-B37F-16B0-403B-B7EA929DC06A}"/>
              </a:ext>
            </a:extLst>
          </p:cNvPr>
          <p:cNvSpPr/>
          <p:nvPr/>
        </p:nvSpPr>
        <p:spPr bwMode="auto">
          <a:xfrm>
            <a:off x="309675" y="2797933"/>
            <a:ext cx="6379017" cy="6319649"/>
          </a:xfrm>
          <a:prstGeom prst="roundRect">
            <a:avLst>
              <a:gd name="adj" fmla="val 1767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name">
            <a:extLst>
              <a:ext uri="{FF2B5EF4-FFF2-40B4-BE49-F238E27FC236}">
                <a16:creationId xmlns:a16="http://schemas.microsoft.com/office/drawing/2014/main" id="{6573C525-606D-FE41-1734-53E0E8388CD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87381" y="512118"/>
            <a:ext cx="12347247" cy="535531"/>
          </a:xfr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3200" b="1" spc="-5">
                <a:solidFill>
                  <a:srgbClr val="002060"/>
                </a:solidFill>
                <a:ea typeface="+mn-ea"/>
              </a:rPr>
              <a:t>НАИМЕНОВАНИЕ ПРОЕКТА</a:t>
            </a:r>
            <a:endParaRPr lang="en-US" sz="3200" b="1" spc="-5" dirty="0">
              <a:solidFill>
                <a:srgbClr val="002060"/>
              </a:solidFill>
              <a:ea typeface="+mn-ea"/>
            </a:endParaRP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A1BFD0C9-59E2-EA77-C62E-79BE553DD0D8}"/>
              </a:ext>
            </a:extLst>
          </p:cNvPr>
          <p:cNvSpPr/>
          <p:nvPr/>
        </p:nvSpPr>
        <p:spPr bwMode="auto">
          <a:xfrm rot="5400000" flipH="1">
            <a:off x="6384807" y="-4620495"/>
            <a:ext cx="45719" cy="1224057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solidFill>
              <a:srgbClr val="5B86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5B8695"/>
              </a:solidFill>
            </a:endParaRPr>
          </a:p>
        </p:txBody>
      </p:sp>
      <p:sp>
        <p:nvSpPr>
          <p:cNvPr id="19" name="Скругленный прямоугольник 26">
            <a:extLst>
              <a:ext uri="{FF2B5EF4-FFF2-40B4-BE49-F238E27FC236}">
                <a16:creationId xmlns:a16="http://schemas.microsoft.com/office/drawing/2014/main" id="{134CEBE5-D0C5-3333-2B34-FB15A1F0DCC7}"/>
              </a:ext>
            </a:extLst>
          </p:cNvPr>
          <p:cNvSpPr/>
          <p:nvPr/>
        </p:nvSpPr>
        <p:spPr bwMode="auto">
          <a:xfrm>
            <a:off x="387895" y="2915255"/>
            <a:ext cx="6239358" cy="1247231"/>
          </a:xfrm>
          <a:prstGeom prst="roundRect">
            <a:avLst>
              <a:gd name="adj" fmla="val 7637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AAA2E5A0-858F-F4D8-6772-A52C42DBC206}"/>
              </a:ext>
            </a:extLst>
          </p:cNvPr>
          <p:cNvSpPr/>
          <p:nvPr/>
        </p:nvSpPr>
        <p:spPr bwMode="auto">
          <a:xfrm>
            <a:off x="6769483" y="2800951"/>
            <a:ext cx="5708410" cy="6319649"/>
          </a:xfrm>
          <a:prstGeom prst="roundRect">
            <a:avLst>
              <a:gd name="adj" fmla="val 1300"/>
            </a:avLst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6" name="Прямоугольник: скругленные углы 105">
            <a:extLst>
              <a:ext uri="{FF2B5EF4-FFF2-40B4-BE49-F238E27FC236}">
                <a16:creationId xmlns:a16="http://schemas.microsoft.com/office/drawing/2014/main" id="{4EEFF213-48FE-DFF7-F5FB-604EDE262FF2}"/>
              </a:ext>
            </a:extLst>
          </p:cNvPr>
          <p:cNvSpPr/>
          <p:nvPr/>
        </p:nvSpPr>
        <p:spPr bwMode="auto">
          <a:xfrm>
            <a:off x="324601" y="1686677"/>
            <a:ext cx="12148818" cy="1058932"/>
          </a:xfrm>
          <a:prstGeom prst="roundRect">
            <a:avLst>
              <a:gd name="adj" fmla="val 10699"/>
            </a:avLst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0" name="ProjectDescription">
            <a:extLst>
              <a:ext uri="{FF2B5EF4-FFF2-40B4-BE49-F238E27FC236}">
                <a16:creationId xmlns:a16="http://schemas.microsoft.com/office/drawing/2014/main" id="{2A726527-CD7D-7ABE-3678-387B0180F1BA}"/>
              </a:ext>
            </a:extLst>
          </p:cNvPr>
          <p:cNvSpPr txBox="1"/>
          <p:nvPr/>
        </p:nvSpPr>
        <p:spPr bwMode="auto">
          <a:xfrm>
            <a:off x="542871" y="2280600"/>
            <a:ext cx="5210581" cy="1828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</a:pPr>
            <a:r>
              <a:rPr lang="en-US" sz="1200" spc="-5" dirty="0">
                <a:solidFill>
                  <a:schemeClr val="bg1"/>
                </a:solidFill>
                <a:cs typeface="TT Firs Neue"/>
              </a:rPr>
              <a:t>xxx</a:t>
            </a:r>
            <a:endParaRPr lang="ru-RU" sz="12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6B1455-C7DC-74A4-5C81-6B56A755FA2C}"/>
              </a:ext>
            </a:extLst>
          </p:cNvPr>
          <p:cNvSpPr txBox="1"/>
          <p:nvPr/>
        </p:nvSpPr>
        <p:spPr bwMode="auto">
          <a:xfrm>
            <a:off x="548720" y="6680278"/>
            <a:ext cx="197754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ВИЗУАЛИЗАЦИЯ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A889BC-ED9E-31FB-D30A-A2086A086BBF}"/>
              </a:ext>
            </a:extLst>
          </p:cNvPr>
          <p:cNvSpPr txBox="1"/>
          <p:nvPr/>
        </p:nvSpPr>
        <p:spPr bwMode="auto">
          <a:xfrm>
            <a:off x="563289" y="3014016"/>
            <a:ext cx="511879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  <a:cs typeface="TT Firs Neue"/>
              </a:rPr>
              <a:t>ПРОЕКТ ПО СОЗДАНИЮ ТЕХНОПАРКА</a:t>
            </a:r>
            <a:endParaRPr lang="ru-RU" sz="16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188292-3AB3-5E5B-EA06-79431AC8FBD2}"/>
              </a:ext>
            </a:extLst>
          </p:cNvPr>
          <p:cNvSpPr txBox="1">
            <a:spLocks/>
          </p:cNvSpPr>
          <p:nvPr/>
        </p:nvSpPr>
        <p:spPr bwMode="auto">
          <a:xfrm>
            <a:off x="6946656" y="2907274"/>
            <a:ext cx="5679315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РАСПОЛОЖЕНИЕ ПРОЕКТА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cxnSp>
        <p:nvCxnSpPr>
          <p:cNvPr id="65" name="Соединитель: уступ 64">
            <a:extLst>
              <a:ext uri="{FF2B5EF4-FFF2-40B4-BE49-F238E27FC236}">
                <a16:creationId xmlns:a16="http://schemas.microsoft.com/office/drawing/2014/main" id="{A5760458-542E-BA6E-2C0B-BACF0C2C4D4C}"/>
              </a:ext>
            </a:extLst>
          </p:cNvPr>
          <p:cNvCxnSpPr>
            <a:cxnSpLocks/>
          </p:cNvCxnSpPr>
          <p:nvPr/>
        </p:nvCxnSpPr>
        <p:spPr bwMode="auto">
          <a:xfrm rot="5400000" flipH="1" flipV="1">
            <a:off x="9004173" y="3467183"/>
            <a:ext cx="1601470" cy="3503257"/>
          </a:xfrm>
          <a:prstGeom prst="bentConnector4">
            <a:avLst>
              <a:gd name="adj1" fmla="val -14274"/>
              <a:gd name="adj2" fmla="val 647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MapImage">
            <a:extLst>
              <a:ext uri="{FF2B5EF4-FFF2-40B4-BE49-F238E27FC236}">
                <a16:creationId xmlns:a16="http://schemas.microsoft.com/office/drawing/2014/main" id="{1801A632-01B8-25A6-4A93-3B75628B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90" b="2735"/>
          <a:stretch/>
        </p:blipFill>
        <p:spPr>
          <a:xfrm>
            <a:off x="6931065" y="3177357"/>
            <a:ext cx="5418629" cy="5940225"/>
          </a:xfrm>
          <a:prstGeom prst="roundRect">
            <a:avLst>
              <a:gd name="adj" fmla="val 2579"/>
            </a:avLst>
          </a:prstGeom>
        </p:spPr>
      </p:pic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BA040601-BE3C-A6EB-2657-41200C70FDB9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9336668" y="4344989"/>
            <a:ext cx="2133020" cy="100186"/>
          </a:xfrm>
          <a:prstGeom prst="bentConnector3">
            <a:avLst>
              <a:gd name="adj1" fmla="val 6125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Соединитель: уступ 59">
            <a:extLst>
              <a:ext uri="{FF2B5EF4-FFF2-40B4-BE49-F238E27FC236}">
                <a16:creationId xmlns:a16="http://schemas.microsoft.com/office/drawing/2014/main" id="{8874786E-C3BB-2AF6-F2D6-CEF9E8D5CBAA}"/>
              </a:ext>
            </a:extLst>
          </p:cNvPr>
          <p:cNvCxnSpPr>
            <a:cxnSpLocks/>
          </p:cNvCxnSpPr>
          <p:nvPr/>
        </p:nvCxnSpPr>
        <p:spPr bwMode="auto">
          <a:xfrm rot="5400000">
            <a:off x="9744708" y="5803045"/>
            <a:ext cx="3402645" cy="34954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28900BB5-ECF8-9680-D436-B005923A45B6}"/>
              </a:ext>
            </a:extLst>
          </p:cNvPr>
          <p:cNvGrpSpPr/>
          <p:nvPr/>
        </p:nvGrpSpPr>
        <p:grpSpPr>
          <a:xfrm>
            <a:off x="6927568" y="3681996"/>
            <a:ext cx="2409100" cy="1526358"/>
            <a:chOff x="8600509" y="4778895"/>
            <a:chExt cx="3090246" cy="1957919"/>
          </a:xfrm>
        </p:grpSpPr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9889C9D4-B91F-6D63-37BD-51A7DB0D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5118"/>
            <a:stretch>
              <a:fillRect/>
            </a:stretch>
          </p:blipFill>
          <p:spPr>
            <a:xfrm>
              <a:off x="8600509" y="4778895"/>
              <a:ext cx="3090246" cy="1957919"/>
            </a:xfrm>
            <a:prstGeom prst="roundRect">
              <a:avLst>
                <a:gd name="adj" fmla="val 10301"/>
              </a:avLst>
            </a:prstGeom>
            <a:effectLst>
              <a:outerShdw blurRad="50800" dist="38100" dir="18900000" algn="bl" rotWithShape="0">
                <a:prstClr val="black">
                  <a:alpha val="10000"/>
                </a:prstClr>
              </a:outerShdw>
            </a:effectLst>
          </p:spPr>
        </p:pic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D4ED8535-BF27-5EBE-2B08-8FA7B384422B}"/>
                </a:ext>
              </a:extLst>
            </p:cNvPr>
            <p:cNvSpPr/>
            <p:nvPr/>
          </p:nvSpPr>
          <p:spPr bwMode="auto">
            <a:xfrm>
              <a:off x="9336617" y="5439833"/>
              <a:ext cx="918633" cy="656167"/>
            </a:xfrm>
            <a:custGeom>
              <a:avLst/>
              <a:gdLst>
                <a:gd name="csX0" fmla="*/ 465666 w 918633"/>
                <a:gd name="csY0" fmla="*/ 673100 h 673100"/>
                <a:gd name="csX1" fmla="*/ 0 w 918633"/>
                <a:gd name="csY1" fmla="*/ 474133 h 673100"/>
                <a:gd name="csX2" fmla="*/ 474133 w 918633"/>
                <a:gd name="csY2" fmla="*/ 0 h 673100"/>
                <a:gd name="csX3" fmla="*/ 918633 w 918633"/>
                <a:gd name="csY3" fmla="*/ 198967 h 673100"/>
                <a:gd name="csX4" fmla="*/ 465666 w 918633"/>
                <a:gd name="csY4" fmla="*/ 673100 h 673100"/>
                <a:gd name="csX0" fmla="*/ 465666 w 918633"/>
                <a:gd name="csY0" fmla="*/ 656167 h 656167"/>
                <a:gd name="csX1" fmla="*/ 0 w 918633"/>
                <a:gd name="csY1" fmla="*/ 457200 h 656167"/>
                <a:gd name="csX2" fmla="*/ 474133 w 918633"/>
                <a:gd name="csY2" fmla="*/ 0 h 656167"/>
                <a:gd name="csX3" fmla="*/ 918633 w 918633"/>
                <a:gd name="csY3" fmla="*/ 182034 h 656167"/>
                <a:gd name="csX4" fmla="*/ 465666 w 918633"/>
                <a:gd name="csY4" fmla="*/ 656167 h 6561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18633" h="656167">
                  <a:moveTo>
                    <a:pt x="465666" y="656167"/>
                  </a:moveTo>
                  <a:lnTo>
                    <a:pt x="0" y="457200"/>
                  </a:lnTo>
                  <a:lnTo>
                    <a:pt x="474133" y="0"/>
                  </a:lnTo>
                  <a:lnTo>
                    <a:pt x="918633" y="182034"/>
                  </a:lnTo>
                  <a:lnTo>
                    <a:pt x="465666" y="656167"/>
                  </a:lnTo>
                  <a:close/>
                </a:path>
              </a:pathLst>
            </a:custGeom>
            <a:solidFill>
              <a:srgbClr val="66FFFF">
                <a:alpha val="65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A8046F6E-B9BC-90CB-A534-80ED9AF05DB9}"/>
              </a:ext>
            </a:extLst>
          </p:cNvPr>
          <p:cNvSpPr txBox="1"/>
          <p:nvPr/>
        </p:nvSpPr>
        <p:spPr bwMode="auto">
          <a:xfrm>
            <a:off x="3774331" y="3790793"/>
            <a:ext cx="835085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год ввода</a:t>
            </a:r>
            <a:endParaRPr lang="ru-RU" sz="500" dirty="0">
              <a:solidFill>
                <a:schemeClr val="bg1"/>
              </a:solidFill>
            </a:endParaRPr>
          </a:p>
        </p:txBody>
      </p:sp>
      <p:pic>
        <p:nvPicPr>
          <p:cNvPr id="37" name="Picture 4" descr="В Сколково открыт первый в России исследовательский центр по разработке  продукции из полимеров в блоге Инновации / Сделано у нас">
            <a:extLst>
              <a:ext uri="{FF2B5EF4-FFF2-40B4-BE49-F238E27FC236}">
                <a16:creationId xmlns:a16="http://schemas.microsoft.com/office/drawing/2014/main" id="{DCBC4A8B-2DF1-DF7C-1BD9-8363EF7487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1" b="8911"/>
          <a:stretch>
            <a:fillRect/>
          </a:stretch>
        </p:blipFill>
        <p:spPr bwMode="auto">
          <a:xfrm>
            <a:off x="10062640" y="7679141"/>
            <a:ext cx="2417235" cy="1409941"/>
          </a:xfrm>
          <a:prstGeom prst="roundRect">
            <a:avLst>
              <a:gd name="adj" fmla="val 10301"/>
            </a:avLst>
          </a:prstGeom>
          <a:effectLst>
            <a:outerShdw blurRad="50800" dist="38100" dir="18900000" algn="bl" rotWithShape="0">
              <a:prstClr val="black">
                <a:alpha val="1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investor">
            <a:extLst>
              <a:ext uri="{FF2B5EF4-FFF2-40B4-BE49-F238E27FC236}">
                <a16:creationId xmlns:a16="http://schemas.microsoft.com/office/drawing/2014/main" id="{007D8440-AAF9-B816-61F6-5F7600A03FA9}"/>
              </a:ext>
            </a:extLst>
          </p:cNvPr>
          <p:cNvSpPr txBox="1"/>
          <p:nvPr/>
        </p:nvSpPr>
        <p:spPr bwMode="auto">
          <a:xfrm>
            <a:off x="6769483" y="2100600"/>
            <a:ext cx="5569203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R="147230" algn="l"/>
            <a:r>
              <a:rPr lang="en-US" sz="1200" spc="-5" dirty="0">
                <a:solidFill>
                  <a:schemeClr val="bg1"/>
                </a:solidFill>
              </a:rPr>
              <a:t>xxx</a:t>
            </a:r>
            <a:endParaRPr lang="ru-RU" sz="1200" spc="-5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FFDB9A1C-A59E-C66E-30AC-35BFB97A7A43}"/>
              </a:ext>
            </a:extLst>
          </p:cNvPr>
          <p:cNvSpPr/>
          <p:nvPr/>
        </p:nvSpPr>
        <p:spPr bwMode="auto">
          <a:xfrm>
            <a:off x="10064330" y="8924478"/>
            <a:ext cx="2417234" cy="1958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E53AA4-522C-EA63-733E-7B077DDF95E0}"/>
              </a:ext>
            </a:extLst>
          </p:cNvPr>
          <p:cNvSpPr txBox="1"/>
          <p:nvPr/>
        </p:nvSpPr>
        <p:spPr bwMode="auto">
          <a:xfrm>
            <a:off x="10447984" y="8953170"/>
            <a:ext cx="164654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ЦЕНТР НИОКР СИБУР</a:t>
            </a:r>
            <a:endParaRPr lang="ru-RU" sz="900" b="1" dirty="0"/>
          </a:p>
        </p:txBody>
      </p:sp>
      <p:pic>
        <p:nvPicPr>
          <p:cNvPr id="28" name="ProjectRender_1" descr="Изображение выглядит как небо, строительство, на открытом воздухе, ноч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691307B-F2CB-BC65-F019-93DC81C5FC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2" r="5779"/>
          <a:stretch>
            <a:fillRect/>
          </a:stretch>
        </p:blipFill>
        <p:spPr>
          <a:xfrm>
            <a:off x="462914" y="6955662"/>
            <a:ext cx="2971800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pic>
        <p:nvPicPr>
          <p:cNvPr id="30" name="ProjectRender_2" descr="Изображение выглядит как дерево, снимок экрана, дом, строитель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A755BC-0AAF-B30D-0CAB-354BF0EFE2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494"/>
          <a:stretch>
            <a:fillRect/>
          </a:stretch>
        </p:blipFill>
        <p:spPr>
          <a:xfrm>
            <a:off x="3545828" y="6955662"/>
            <a:ext cx="3020589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sp>
        <p:nvSpPr>
          <p:cNvPr id="76" name="Прямоугольник: скругленные углы 75">
            <a:extLst>
              <a:ext uri="{FF2B5EF4-FFF2-40B4-BE49-F238E27FC236}">
                <a16:creationId xmlns:a16="http://schemas.microsoft.com/office/drawing/2014/main" id="{2969EE8F-5C2C-7626-7131-F2AE9D2D8848}"/>
              </a:ext>
            </a:extLst>
          </p:cNvPr>
          <p:cNvSpPr/>
          <p:nvPr/>
        </p:nvSpPr>
        <p:spPr bwMode="auto">
          <a:xfrm>
            <a:off x="6935990" y="5008695"/>
            <a:ext cx="2400678" cy="1996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69124C-4284-0DEB-BFE8-DA81F2C73D37}"/>
              </a:ext>
            </a:extLst>
          </p:cNvPr>
          <p:cNvSpPr txBox="1"/>
          <p:nvPr/>
        </p:nvSpPr>
        <p:spPr bwMode="auto">
          <a:xfrm>
            <a:off x="7133484" y="5041930"/>
            <a:ext cx="1997268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ПРЕДЛАГАЕМЫЙ ЗУ</a:t>
            </a:r>
            <a:endParaRPr lang="ru-RU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2CD7CB-40EB-42A9-BBB0-0E17B366C921}"/>
              </a:ext>
            </a:extLst>
          </p:cNvPr>
          <p:cNvSpPr txBox="1"/>
          <p:nvPr/>
        </p:nvSpPr>
        <p:spPr bwMode="auto">
          <a:xfrm>
            <a:off x="588316" y="4428753"/>
            <a:ext cx="2957512" cy="439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ИНФРАСТРУКТУРА </a:t>
            </a:r>
          </a:p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ТЕХНОПАРКА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81A3C6-DC9C-4FA6-B2C0-69164094A06F}"/>
              </a:ext>
            </a:extLst>
          </p:cNvPr>
          <p:cNvSpPr txBox="1"/>
          <p:nvPr/>
        </p:nvSpPr>
        <p:spPr bwMode="auto">
          <a:xfrm>
            <a:off x="1245063" y="4994835"/>
            <a:ext cx="1915737" cy="427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Производственные помещения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5D0FCF-0745-48C5-8F17-FF6A4EF9B813}"/>
              </a:ext>
            </a:extLst>
          </p:cNvPr>
          <p:cNvSpPr txBox="1"/>
          <p:nvPr/>
        </p:nvSpPr>
        <p:spPr bwMode="auto">
          <a:xfrm>
            <a:off x="1245063" y="5834923"/>
            <a:ext cx="1915737" cy="21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Офисы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6F1C3-1D0C-40D2-B0C0-BE790166BAE3}"/>
              </a:ext>
            </a:extLst>
          </p:cNvPr>
          <p:cNvSpPr txBox="1"/>
          <p:nvPr/>
        </p:nvSpPr>
        <p:spPr bwMode="auto">
          <a:xfrm>
            <a:off x="4475835" y="4994835"/>
            <a:ext cx="2015968" cy="427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Лабораторные помещения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28C4CF-B35F-429D-978E-695D10A06431}"/>
              </a:ext>
            </a:extLst>
          </p:cNvPr>
          <p:cNvSpPr txBox="1"/>
          <p:nvPr/>
        </p:nvSpPr>
        <p:spPr bwMode="auto">
          <a:xfrm>
            <a:off x="4475835" y="5688142"/>
            <a:ext cx="2015968" cy="427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Внутренний двор </a:t>
            </a:r>
            <a:br>
              <a:rPr lang="ru-RU" sz="1400" b="1" spc="-5" dirty="0">
                <a:solidFill>
                  <a:schemeClr val="bg1"/>
                </a:solidFill>
                <a:cs typeface="TT Firs Neue"/>
              </a:rPr>
            </a:b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и сад на крыше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pic>
        <p:nvPicPr>
          <p:cNvPr id="2" name="Picture 2" descr="Автоматизация ">
            <a:extLst>
              <a:ext uri="{FF2B5EF4-FFF2-40B4-BE49-F238E27FC236}">
                <a16:creationId xmlns:a16="http://schemas.microsoft.com/office/drawing/2014/main" id="{3F58288D-F183-4A55-BFC5-F8653D5C8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54" y="4920941"/>
            <a:ext cx="429153" cy="429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Документ в буфере обмена ">
            <a:extLst>
              <a:ext uri="{FF2B5EF4-FFF2-40B4-BE49-F238E27FC236}">
                <a16:creationId xmlns:a16="http://schemas.microsoft.com/office/drawing/2014/main" id="{4FEA6265-1CB2-480B-8A5C-96B106D11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54" y="5580499"/>
            <a:ext cx="508669" cy="50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Панорамный ">
            <a:extLst>
              <a:ext uri="{FF2B5EF4-FFF2-40B4-BE49-F238E27FC236}">
                <a16:creationId xmlns:a16="http://schemas.microsoft.com/office/drawing/2014/main" id="{2CE71A3E-8332-41C5-9D14-5EA6974B4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6823" y="5526961"/>
            <a:ext cx="588221" cy="58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Лаборатория ">
            <a:extLst>
              <a:ext uri="{FF2B5EF4-FFF2-40B4-BE49-F238E27FC236}">
                <a16:creationId xmlns:a16="http://schemas.microsoft.com/office/drawing/2014/main" id="{4390B215-7079-4D90-85D5-D84CA741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1974" y="4868617"/>
            <a:ext cx="465783" cy="465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D18526-E19A-3DF3-7247-F9288F82C898}"/>
              </a:ext>
            </a:extLst>
          </p:cNvPr>
          <p:cNvSpPr txBox="1"/>
          <p:nvPr/>
        </p:nvSpPr>
        <p:spPr>
          <a:xfrm>
            <a:off x="462914" y="1836798"/>
            <a:ext cx="6400800" cy="36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800" b="1" spc="-5" dirty="0">
                <a:solidFill>
                  <a:schemeClr val="bg1"/>
                </a:solidFill>
                <a:cs typeface="TT Firs Neue"/>
              </a:rPr>
              <a:t>ОПИСАНИЕ</a:t>
            </a:r>
            <a:endParaRPr lang="ru-RU" sz="18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39423-D5FF-FE4F-809C-BA4598B587D2}"/>
              </a:ext>
            </a:extLst>
          </p:cNvPr>
          <p:cNvSpPr txBox="1"/>
          <p:nvPr/>
        </p:nvSpPr>
        <p:spPr>
          <a:xfrm>
            <a:off x="6688692" y="1725358"/>
            <a:ext cx="1771763" cy="336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</a:rPr>
              <a:t>ОБ ИНВЕСТОРЕ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5DA9DF-F94C-10BD-66F0-974E7F51FF2C}"/>
              </a:ext>
            </a:extLst>
          </p:cNvPr>
          <p:cNvSpPr txBox="1"/>
          <p:nvPr/>
        </p:nvSpPr>
        <p:spPr bwMode="auto">
          <a:xfrm>
            <a:off x="2067072" y="3419573"/>
            <a:ext cx="1572965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   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1100" b="1" dirty="0">
                <a:solidFill>
                  <a:schemeClr val="bg1"/>
                </a:solidFill>
              </a:rPr>
              <a:t>млрд руб.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объем инвестиций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4" name="year_entered">
            <a:extLst>
              <a:ext uri="{FF2B5EF4-FFF2-40B4-BE49-F238E27FC236}">
                <a16:creationId xmlns:a16="http://schemas.microsoft.com/office/drawing/2014/main" id="{C31F1104-BE33-B974-0F3B-CBDD5335DB21}"/>
              </a:ext>
            </a:extLst>
          </p:cNvPr>
          <p:cNvSpPr txBox="1"/>
          <p:nvPr/>
        </p:nvSpPr>
        <p:spPr bwMode="auto">
          <a:xfrm>
            <a:off x="3765637" y="3415711"/>
            <a:ext cx="83508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2800" b="1" dirty="0">
              <a:solidFill>
                <a:schemeClr val="bg1"/>
              </a:solidFill>
            </a:endParaRPr>
          </a:p>
        </p:txBody>
      </p:sp>
      <p:sp>
        <p:nvSpPr>
          <p:cNvPr id="15" name="parcel_area_label">
            <a:extLst>
              <a:ext uri="{FF2B5EF4-FFF2-40B4-BE49-F238E27FC236}">
                <a16:creationId xmlns:a16="http://schemas.microsoft.com/office/drawing/2014/main" id="{31ED8E8D-7837-2897-B835-EF30EDBCE8D3}"/>
              </a:ext>
            </a:extLst>
          </p:cNvPr>
          <p:cNvSpPr txBox="1"/>
          <p:nvPr/>
        </p:nvSpPr>
        <p:spPr bwMode="auto">
          <a:xfrm>
            <a:off x="4931994" y="3413903"/>
            <a:ext cx="1316538" cy="530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</a:t>
            </a:r>
            <a:r>
              <a:rPr lang="ru-RU" sz="2400" b="1" dirty="0">
                <a:solidFill>
                  <a:schemeClr val="bg1"/>
                </a:solidFill>
              </a:rPr>
              <a:t> </a:t>
            </a:r>
            <a:r>
              <a:rPr lang="en-US" sz="2400" b="1" dirty="0">
                <a:solidFill>
                  <a:schemeClr val="bg1"/>
                </a:solidFill>
              </a:rPr>
              <a:t>    </a:t>
            </a:r>
            <a:r>
              <a:rPr lang="ru-RU" sz="1100" b="1" dirty="0">
                <a:solidFill>
                  <a:schemeClr val="bg1"/>
                </a:solidFill>
              </a:rPr>
              <a:t>га</a:t>
            </a:r>
            <a:endParaRPr lang="ru-RU" sz="2800" b="1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площадь ЗУ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43" name="parcel_area_ga">
            <a:extLst>
              <a:ext uri="{FF2B5EF4-FFF2-40B4-BE49-F238E27FC236}">
                <a16:creationId xmlns:a16="http://schemas.microsoft.com/office/drawing/2014/main" id="{1B4E9A88-52CC-4A1D-9FB2-EE776714DD97}"/>
              </a:ext>
            </a:extLst>
          </p:cNvPr>
          <p:cNvSpPr txBox="1"/>
          <p:nvPr/>
        </p:nvSpPr>
        <p:spPr bwMode="auto">
          <a:xfrm>
            <a:off x="4923300" y="3413903"/>
            <a:ext cx="1316538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</a:rPr>
              <a:t>0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70" name="investments">
            <a:extLst>
              <a:ext uri="{FF2B5EF4-FFF2-40B4-BE49-F238E27FC236}">
                <a16:creationId xmlns:a16="http://schemas.microsoft.com/office/drawing/2014/main" id="{D8444C14-B236-F7FC-35E6-CAE3D0FCA629}"/>
              </a:ext>
            </a:extLst>
          </p:cNvPr>
          <p:cNvSpPr txBox="1"/>
          <p:nvPr/>
        </p:nvSpPr>
        <p:spPr bwMode="auto">
          <a:xfrm>
            <a:off x="2080800" y="3415711"/>
            <a:ext cx="1093461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328156-4494-1FAE-F1D1-D52E0CAFF1AA}"/>
              </a:ext>
            </a:extLst>
          </p:cNvPr>
          <p:cNvSpPr txBox="1"/>
          <p:nvPr/>
        </p:nvSpPr>
        <p:spPr bwMode="auto">
          <a:xfrm>
            <a:off x="611046" y="3404062"/>
            <a:ext cx="1402607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 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1100" b="1" dirty="0">
                <a:solidFill>
                  <a:schemeClr val="bg1"/>
                </a:solidFill>
              </a:rPr>
              <a:t>тыс. м</a:t>
            </a:r>
            <a:r>
              <a:rPr lang="ru-RU" sz="1100" b="1" baseline="30000" dirty="0">
                <a:solidFill>
                  <a:schemeClr val="bg1"/>
                </a:solidFill>
              </a:rPr>
              <a:t>2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общая площадь,</a:t>
            </a:r>
            <a:r>
              <a:rPr lang="en-US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 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C4E5FA3-B8A8-053B-D65F-C55CB2400AC8}"/>
              </a:ext>
            </a:extLst>
          </p:cNvPr>
          <p:cNvSpPr txBox="1"/>
          <p:nvPr/>
        </p:nvSpPr>
        <p:spPr bwMode="auto">
          <a:xfrm>
            <a:off x="616755" y="3404062"/>
            <a:ext cx="112774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432992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Liquid Flow 5">
      <a:dk1>
        <a:sysClr val="windowText" lastClr="000000"/>
      </a:dk1>
      <a:lt1>
        <a:sysClr val="window" lastClr="FFFFFF"/>
      </a:lt1>
      <a:dk2>
        <a:srgbClr val="0C0C0C"/>
      </a:dk2>
      <a:lt2>
        <a:srgbClr val="EEECE1"/>
      </a:lt2>
      <a:accent1>
        <a:srgbClr val="00B050"/>
      </a:accent1>
      <a:accent2>
        <a:srgbClr val="005828"/>
      </a:accent2>
      <a:accent3>
        <a:srgbClr val="00843C"/>
      </a:accent3>
      <a:accent4>
        <a:srgbClr val="36FF91"/>
      </a:accent4>
      <a:accent5>
        <a:srgbClr val="79FFB6"/>
      </a:accent5>
      <a:accent6>
        <a:srgbClr val="BCFFDA"/>
      </a:accent6>
      <a:hlink>
        <a:srgbClr val="5F0060"/>
      </a:hlink>
      <a:folHlink>
        <a:srgbClr val="800080"/>
      </a:folHlink>
    </a:clrScheme>
    <a:fontScheme name="TT Firs Neue">
      <a:majorFont>
        <a:latin typeface="TT Firs Neue Black"/>
        <a:ea typeface="Arial"/>
        <a:cs typeface="Arial"/>
      </a:majorFont>
      <a:minorFont>
        <a:latin typeface="TT Firs Neue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66FFFF">
            <a:alpha val="65000"/>
          </a:srgbClr>
        </a:solidFill>
        <a:ln>
          <a:solidFill>
            <a:srgbClr val="0070C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 Office</Template>
  <TotalTime>1233</TotalTime>
  <Words>60</Words>
  <Application>Microsoft Office PowerPoint</Application>
  <DocSecurity>0</DocSecurity>
  <PresentationFormat>A3 (297x420 мм)</PresentationFormat>
  <Paragraphs>27</Paragraphs>
  <Slides>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Arial</vt:lpstr>
      <vt:lpstr>Mulish</vt:lpstr>
      <vt:lpstr>TT Firs Neue</vt:lpstr>
      <vt:lpstr>Тема Office</vt:lpstr>
      <vt:lpstr>Презентация PowerPoint</vt:lpstr>
      <vt:lpstr>НАИМЕНОВАНИЕ ПРОЕКТА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</dc:title>
  <dc:subject/>
  <dc:creator>Шпинёв Алексей Сергеевич</dc:creator>
  <cp:keywords/>
  <dc:description/>
  <cp:lastModifiedBy>PC</cp:lastModifiedBy>
  <cp:revision>637</cp:revision>
  <dcterms:created xsi:type="dcterms:W3CDTF">2024-10-17T18:28:43Z</dcterms:created>
  <dcterms:modified xsi:type="dcterms:W3CDTF">2026-05-12T10:20:26Z</dcterms:modified>
  <cp:category/>
  <dc:identifier/>
  <cp:contentStatus/>
  <dc:language/>
  <cp:version/>
</cp:coreProperties>
</file>